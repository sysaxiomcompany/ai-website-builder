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8" r:id="rId19"/>
    <p:sldId id="264" r:id="rId10"/>
    <p:sldId id="270" r:id="rId21"/>
    <p:sldId id="265" r:id="rId11"/>
    <p:sldId id="269" r:id="rId20"/>
    <p:sldId id="266" r:id="rId12"/>
    <p:sldId id="267" r:id="rId1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2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9532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offline Android app that gives visually impaired users spoken hazard warnings.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for the audience and state what the app does in one breath.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failure modes of existing tools; land on why on-device matters.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read as commitments for the year.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paper is HazardNet; state the gap it leaves open.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is prior art, right column is what this app does differently.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features; the first three are the core loop, the last three are the safety polish.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layer is student-scale and free to run.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stages; note the loop runs continuously.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build phases from dataset to integrated app.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extensions beyond the FYP scope.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four deliverables and close on impact.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svg"/><Relationship Id="rId4" Type="http://schemas.openxmlformats.org/officeDocument/2006/relationships/image" Target="../media/image2.svg"/><Relationship Id="rId5"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 Id="rId6" Type="http://schemas.openxmlformats.org/officeDocument/2006/relationships/image" Target="../media/image11.svg"/><Relationship Id="rId7" Type="http://schemas.openxmlformats.org/officeDocument/2006/relationships/image" Target="../media/image12.svg"/><Relationship Id="rId8" Type="http://schemas.openxmlformats.org/officeDocument/2006/relationships/image" Target="../media/image13.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svg"/><Relationship Id="rId4" Type="http://schemas.openxmlformats.org/officeDocument/2006/relationships/image" Target="../media/image15.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svg"/><Relationship Id="rId4" Type="http://schemas.openxmlformats.org/officeDocument/2006/relationships/image" Target="../media/image17.svg"/><Relationship Id="rId5" Type="http://schemas.openxmlformats.org/officeDocument/2006/relationships/image" Target="../media/image18.svg"/><Relationship Id="rId6" Type="http://schemas.openxmlformats.org/officeDocument/2006/relationships/image" Target="../media/image19.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svg"/><Relationship Id="rId4" Type="http://schemas.openxmlformats.org/officeDocument/2006/relationships/image" Target="../media/image21.svg"/><Relationship Id="rId5" Type="http://schemas.openxmlformats.org/officeDocument/2006/relationships/image" Target="../media/image22.svg"/><Relationship Id="rId6" Type="http://schemas.openxmlformats.org/officeDocument/2006/relationships/image" Target="../media/image23.svg"/><Relationship Id="rId7" Type="http://schemas.openxmlformats.org/officeDocument/2006/relationships/image" Target="../media/image2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5.svg"/><Relationship Id="rId4" Type="http://schemas.openxmlformats.org/officeDocument/2006/relationships/image" Target="../media/image26.svg"/><Relationship Id="rId5" Type="http://schemas.openxmlformats.org/officeDocument/2006/relationships/image" Target="../media/image27.svg"/><Relationship Id="rId6" Type="http://schemas.openxmlformats.org/officeDocument/2006/relationships/image" Target="../media/image28.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kern="0" spc="180" dirty="0">
                <a:solidFill>
                  <a:srgbClr val="EC3013"/>
                </a:solidFill>
                <a:latin typeface="Arial" pitchFamily="34" charset="0"/>
                <a:ea typeface="Arial" pitchFamily="34" charset="-122"/>
                <a:cs typeface="Arial" pitchFamily="34" charset="-120"/>
              </a:rPr>
              <a:t>FINAL YEAR PROJECT · CSE</a:t>
            </a:r>
            <a:endParaRPr lang="en-US" sz="1800" dirty="0"/>
          </a:p>
        </p:txBody>
      </p:sp>
      <p:sp>
        <p:nvSpPr>
          <p:cNvPr id="3" name="Shape 1"/>
          <p:cNvSpPr/>
          <p:nvPr/>
        </p:nvSpPr>
        <p:spPr>
          <a:xfrm>
            <a:off x="1047750" y="2752725"/>
            <a:ext cx="1714500" cy="114300"/>
          </a:xfrm>
          <a:prstGeom prst="rect">
            <a:avLst/>
          </a:prstGeom>
          <a:solidFill>
            <a:srgbClr val="EC3013"/>
          </a:solidFill>
          <a:ln/>
        </p:spPr>
        <p:txBody>
          <a:bodyPr/>
          <a:lstStyle/>
          <a:p>
            <a:endParaRPr lang="en-US"/>
          </a:p>
        </p:txBody>
      </p:sp>
      <p:sp>
        <p:nvSpPr>
          <p:cNvPr id="4" name="Text 2"/>
          <p:cNvSpPr/>
          <p:nvPr/>
        </p:nvSpPr>
        <p:spPr>
          <a:xfrm>
            <a:off x="1047750" y="3248025"/>
            <a:ext cx="14716125" cy="3124200"/>
          </a:xfrm>
          <a:prstGeom prst="rect">
            <a:avLst/>
          </a:prstGeom>
          <a:noFill/>
          <a:ln/>
        </p:spPr>
        <p:txBody>
          <a:bodyPr wrap="square" lIns="25400" tIns="25400" rIns="25400" bIns="25400" rtlCol="0" anchor="t">
            <a:normAutofit/>
          </a:bodyPr>
          <a:lstStyle/>
          <a:p>
            <a:pPr marL="0" indent="0" algn="l">
              <a:lnSpc>
                <a:spcPct val="100000"/>
              </a:lnSpc>
              <a:buNone/>
            </a:pPr>
            <a:r>
              <a:rPr lang="en-US" sz="8100" b="1" kern="0" spc="-243" dirty="0">
                <a:solidFill>
                  <a:srgbClr val="201E1D"/>
                </a:solidFill>
                <a:latin typeface="Arial" pitchFamily="34" charset="0"/>
                <a:ea typeface="Arial" pitchFamily="34" charset="-122"/>
                <a:cs typeface="Arial" pitchFamily="34" charset="-120"/>
              </a:rPr>
              <a:t>AI Website Builder</a:t>
            </a:r>
            <a:endParaRPr lang="en-US" sz="8100" dirty="0"/>
          </a:p>
        </p:txBody>
      </p:sp>
      <p:sp>
        <p:nvSpPr>
          <p:cNvPr id="5" name="Text 3"/>
          <p:cNvSpPr/>
          <p:nvPr/>
        </p:nvSpPr>
        <p:spPr>
          <a:xfrm>
            <a:off x="1047750" y="6715125"/>
            <a:ext cx="12573000" cy="599033"/>
          </a:xfrm>
          <a:prstGeom prst="rect">
            <a:avLst/>
          </a:prstGeom>
          <a:noFill/>
          <a:ln/>
        </p:spPr>
        <p:txBody>
          <a:bodyPr wrap="square" lIns="25400" tIns="25400" rIns="25400" bIns="25400" rtlCol="0" anchor="t">
            <a:normAutofit/>
          </a:bodyPr>
          <a:lstStyle/>
          <a:p>
            <a:pPr marL="0" indent="0" algn="l">
              <a:lnSpc>
                <a:spcPct val="136977"/>
              </a:lnSpc>
              <a:buNone/>
            </a:pPr>
            <a:r>
              <a:rPr lang="en-US" sz="2850" dirty="0">
                <a:solidFill>
                  <a:srgbClr val="444141"/>
                </a:solidFill>
                <a:latin typeface="Arial" pitchFamily="34" charset="0"/>
                <a:ea typeface="Arial" pitchFamily="34" charset="-122"/>
                <a:cs typeface="Arial" pitchFamily="34" charset="-120"/>
              </a:rPr>
              <a:t>Plain-English prompts become live, exportable websites</a:t>
            </a:r>
            <a:endParaRPr lang="en-US" sz="2850" dirty="0"/>
          </a:p>
        </p:txBody>
      </p:sp>
      <p:sp>
        <p:nvSpPr>
          <p:cNvPr id="6" name="Shape 4"/>
          <p:cNvSpPr/>
          <p:nvPr/>
        </p:nvSpPr>
        <p:spPr>
          <a:xfrm>
            <a:off x="1047750" y="8836372"/>
            <a:ext cx="1680418" cy="612428"/>
          </a:xfrm>
          <a:prstGeom prst="rect">
            <a:avLst/>
          </a:prstGeom>
          <a:ln w="19050">
            <a:solidFill>
              <a:srgbClr val="201E1D"/>
            </a:solidFill>
            <a:prstDash val="solid"/>
          </a:ln>
        </p:spPr>
        <p:txBody>
          <a:bodyPr/>
          <a:lstStyle/>
          <a:p>
            <a:endParaRPr lang="en-US"/>
          </a:p>
        </p:txBody>
      </p:sp>
      <p:sp>
        <p:nvSpPr>
          <p:cNvPr id="7" name="Text 5"/>
          <p:cNvSpPr/>
          <p:nvPr/>
        </p:nvSpPr>
        <p:spPr>
          <a:xfrm>
            <a:off x="1257300" y="8950672"/>
            <a:ext cx="1337518" cy="421928"/>
          </a:xfrm>
          <a:prstGeom prst="rect">
            <a:avLst/>
          </a:prstGeom>
          <a:noFill/>
          <a:ln/>
        </p:spPr>
        <p:txBody>
          <a:bodyPr wrap="square" lIns="25400" tIns="25400" rIns="25400" bIns="25400" rtlCol="0" anchor="t">
            <a:normAutofit fontScale="85000" lnSpcReduction="9000"/>
          </a:bodyPr>
          <a:lstStyle/>
          <a:p>
            <a:pPr marL="0" indent="0" algn="l">
              <a:lnSpc>
                <a:spcPct val="130000"/>
              </a:lnSpc>
              <a:buNone/>
            </a:pPr>
            <a:r>
              <a:rPr lang="en-US" sz="1950" b="1" kern="0" spc="117" dirty="0">
                <a:solidFill>
                  <a:srgbClr val="201E1D"/>
                </a:solidFill>
                <a:latin typeface="Arial" pitchFamily="34" charset="0"/>
                <a:ea typeface="Arial" pitchFamily="34" charset="-122"/>
                <a:cs typeface="Arial" pitchFamily="34" charset="-120"/>
              </a:rPr>
              <a:t>Flask + ML</a:t>
            </a:r>
            <a:endParaRPr lang="en-US" sz="1950" dirty="0"/>
          </a:p>
        </p:txBody>
      </p:sp>
      <p:sp>
        <p:nvSpPr>
          <p:cNvPr id="8" name="Shape 6"/>
          <p:cNvSpPr/>
          <p:nvPr/>
        </p:nvSpPr>
        <p:spPr>
          <a:xfrm>
            <a:off x="2880568" y="8836372"/>
            <a:ext cx="1813620" cy="612428"/>
          </a:xfrm>
          <a:prstGeom prst="rect">
            <a:avLst/>
          </a:prstGeom>
          <a:ln w="19050">
            <a:solidFill>
              <a:srgbClr val="201E1D"/>
            </a:solidFill>
            <a:prstDash val="solid"/>
          </a:ln>
        </p:spPr>
        <p:txBody>
          <a:bodyPr/>
          <a:lstStyle/>
          <a:p>
            <a:endParaRPr lang="en-US"/>
          </a:p>
        </p:txBody>
      </p:sp>
      <p:sp>
        <p:nvSpPr>
          <p:cNvPr id="9" name="Text 7"/>
          <p:cNvSpPr/>
          <p:nvPr/>
        </p:nvSpPr>
        <p:spPr>
          <a:xfrm>
            <a:off x="3090118" y="8950672"/>
            <a:ext cx="1470720" cy="421928"/>
          </a:xfrm>
          <a:prstGeom prst="rect">
            <a:avLst/>
          </a:prstGeom>
          <a:noFill/>
          <a:ln/>
        </p:spPr>
        <p:txBody>
          <a:bodyPr wrap="square" lIns="25400" tIns="25400" rIns="25400" bIns="25400" rtlCol="0" anchor="t">
            <a:normAutofit fontScale="85000" lnSpcReduction="9000"/>
          </a:bodyPr>
          <a:lstStyle/>
          <a:p>
            <a:pPr marL="0" indent="0" algn="l">
              <a:lnSpc>
                <a:spcPct val="130000"/>
              </a:lnSpc>
              <a:buNone/>
            </a:pPr>
            <a:r>
              <a:rPr lang="en-US" sz="1950" b="1" kern="0" spc="117" dirty="0">
                <a:solidFill>
                  <a:srgbClr val="201E1D"/>
                </a:solidFill>
                <a:latin typeface="Arial" pitchFamily="34" charset="0"/>
                <a:ea typeface="Arial" pitchFamily="34" charset="-122"/>
                <a:cs typeface="Arial" pitchFamily="34" charset="-120"/>
              </a:rPr>
              <a:t>Offline Export</a:t>
            </a:r>
            <a:endParaRPr lang="en-US" sz="1950" dirty="0"/>
          </a:p>
        </p:txBody>
      </p:sp>
      <p:sp>
        <p:nvSpPr>
          <p:cNvPr id="10" name="Shape 8"/>
          <p:cNvSpPr/>
          <p:nvPr/>
        </p:nvSpPr>
        <p:spPr>
          <a:xfrm>
            <a:off x="4846588" y="8836372"/>
            <a:ext cx="2152650" cy="612428"/>
          </a:xfrm>
          <a:prstGeom prst="rect">
            <a:avLst/>
          </a:prstGeom>
          <a:ln w="19050">
            <a:solidFill>
              <a:srgbClr val="201E1D"/>
            </a:solidFill>
            <a:prstDash val="solid"/>
          </a:ln>
        </p:spPr>
        <p:txBody>
          <a:bodyPr/>
          <a:lstStyle/>
          <a:p>
            <a:endParaRPr lang="en-US"/>
          </a:p>
        </p:txBody>
      </p:sp>
      <p:sp>
        <p:nvSpPr>
          <p:cNvPr id="11" name="Text 9"/>
          <p:cNvSpPr/>
          <p:nvPr/>
        </p:nvSpPr>
        <p:spPr>
          <a:xfrm>
            <a:off x="5056138" y="8950672"/>
            <a:ext cx="1809750" cy="421928"/>
          </a:xfrm>
          <a:prstGeom prst="rect">
            <a:avLst/>
          </a:prstGeom>
          <a:noFill/>
          <a:ln/>
        </p:spPr>
        <p:txBody>
          <a:bodyPr wrap="square" lIns="25400" tIns="25400" rIns="25400" bIns="25400" rtlCol="0" anchor="t">
            <a:normAutofit fontScale="85000" lnSpcReduction="9000"/>
          </a:bodyPr>
          <a:lstStyle/>
          <a:p>
            <a:pPr marL="0" indent="0" algn="l">
              <a:lnSpc>
                <a:spcPct val="130000"/>
              </a:lnSpc>
              <a:buNone/>
            </a:pPr>
            <a:r>
              <a:rPr lang="en-US" sz="1950" b="1" kern="0" spc="117" dirty="0">
                <a:solidFill>
                  <a:srgbClr val="201E1D"/>
                </a:solidFill>
                <a:latin typeface="Arial" pitchFamily="34" charset="0"/>
                <a:ea typeface="Arial" pitchFamily="34" charset="-122"/>
                <a:cs typeface="Arial" pitchFamily="34" charset="-120"/>
              </a:rPr>
              <a:t>Instant Preview</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kern="0" spc="180" dirty="0">
                <a:solidFill>
                  <a:srgbClr val="EC3013"/>
                </a:solidFill>
                <a:latin typeface="Arial" pitchFamily="34" charset="0"/>
                <a:ea typeface="Arial" pitchFamily="34" charset="-122"/>
                <a:cs typeface="Arial" pitchFamily="34" charset="-120"/>
              </a:rPr>
              <a:t>01 · INTRODUCTION</a:t>
            </a:r>
            <a:endParaRPr lang="en-US" sz="1800" dirty="0"/>
          </a:p>
        </p:txBody>
      </p:sp>
      <p:sp>
        <p:nvSpPr>
          <p:cNvPr id="3" name="Shape 1"/>
          <p:cNvSpPr/>
          <p:nvPr/>
        </p:nvSpPr>
        <p:spPr>
          <a:xfrm>
            <a:off x="1047750" y="1440061"/>
            <a:ext cx="16192500" cy="19050"/>
          </a:xfrm>
          <a:prstGeom prst="rect">
            <a:avLst/>
          </a:prstGeom>
          <a:solidFill>
            <a:srgbClr val="201E1E">
              <a:alpha val="40000"/>
            </a:srgbClr>
          </a:solidFill>
          <a:ln/>
        </p:spPr>
        <p:txBody>
          <a:bodyPr/>
          <a:lstStyle/>
          <a:p>
            <a:endParaRPr lang="en-US"/>
          </a:p>
        </p:txBody>
      </p:sp>
      <p:sp>
        <p:nvSpPr>
          <p:cNvPr id="4" name="Text 2"/>
          <p:cNvSpPr/>
          <p:nvPr/>
        </p:nvSpPr>
        <p:spPr>
          <a:xfrm>
            <a:off x="1047750" y="1840111"/>
            <a:ext cx="17811750" cy="658118"/>
          </a:xfrm>
          <a:prstGeom prst="rect">
            <a:avLst/>
          </a:prstGeom>
          <a:noFill/>
          <a:ln/>
        </p:spPr>
        <p:txBody>
          <a:bodyPr wrap="square" lIns="25400" tIns="25400" rIns="25400" bIns="25400" rtlCol="0" anchor="t">
            <a:normAutofit/>
          </a:bodyPr>
          <a:lstStyle/>
          <a:p>
            <a:pPr marL="0" indent="0" algn="l">
              <a:lnSpc>
                <a:spcPct val="91690"/>
              </a:lnSpc>
              <a:buNone/>
            </a:pPr>
            <a:r>
              <a:rPr lang="en-US" sz="4650" b="1" kern="0" spc="-93" dirty="0">
                <a:solidFill>
                  <a:srgbClr val="201E1D"/>
                </a:solidFill>
                <a:latin typeface="Arial" pitchFamily="34" charset="0"/>
                <a:ea typeface="Arial" pitchFamily="34" charset="-122"/>
                <a:cs typeface="Arial" pitchFamily="34" charset="-120"/>
              </a:rPr>
              <a:t>Introduction</a:t>
            </a:r>
            <a:endParaRPr lang="en-US" sz="4650" dirty="0"/>
          </a:p>
        </p:txBody>
      </p:sp>
      <p:sp>
        <p:nvSpPr>
          <p:cNvPr id="5" name="Text 3"/>
          <p:cNvSpPr/>
          <p:nvPr/>
        </p:nvSpPr>
        <p:spPr>
          <a:xfrm>
            <a:off x="1047750" y="2955429"/>
            <a:ext cx="7946708" cy="4723813"/>
          </a:xfrm>
          <a:prstGeom prst="rect">
            <a:avLst/>
          </a:prstGeom>
          <a:noFill/>
          <a:ln/>
        </p:spPr>
        <p:txBody>
          <a:bodyPr wrap="square" lIns="25400" tIns="25400" rIns="25400" bIns="25400" rtlCol="0" anchor="t">
            <a:normAutofit/>
          </a:bodyPr>
          <a:lstStyle/>
          <a:p>
            <a:pPr marL="0" indent="0" algn="l">
              <a:lnSpc>
                <a:spcPct val="127941"/>
              </a:lnSpc>
              <a:buNone/>
            </a:pPr>
            <a:r>
              <a:rPr lang="en-US" sz="2250" dirty="0">
                <a:solidFill>
                  <a:srgbClr val="201E1D"/>
                </a:solidFill>
                <a:latin typeface="Arial" pitchFamily="34" charset="0"/>
                <a:ea typeface="Arial" pitchFamily="34" charset="-122"/>
                <a:cs typeface="Arial" pitchFamily="34" charset="-120"/>
              </a:rPr>
              <a:t>Building a professional website still demands coding skill, design sense, and money that students, individuals, and small businesses often don't have. Even modern website builders require manually browsing templates and assembling sections by hand. This project lets a user simply describe the website they want in plain English and get a themed, ready-to-edit site back instantly.</a:t>
            </a:r>
            <a:endParaRPr lang="en-US" sz="22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25000" y="2955429"/>
            <a:ext cx="419100" cy="419100"/>
          </a:xfrm>
          <a:prstGeom prst="rect">
            <a:avLst/>
          </a:prstGeom>
        </p:spPr>
      </p:pic>
      <p:sp>
        <p:nvSpPr>
          <p:cNvPr id="7" name="Text 4"/>
          <p:cNvSpPr/>
          <p:nvPr/>
        </p:nvSpPr>
        <p:spPr>
          <a:xfrm>
            <a:off x="10172700" y="2955429"/>
            <a:ext cx="7774305" cy="421928"/>
          </a:xfrm>
          <a:prstGeom prst="rect">
            <a:avLst/>
          </a:prstGeom>
          <a:noFill/>
          <a:ln/>
        </p:spPr>
        <p:txBody>
          <a:bodyPr wrap="square" lIns="25400" tIns="25400" rIns="25400" bIns="25400" rtlCol="0" anchor="t">
            <a:normAutofit fontScale="85000" lnSpcReduction="9000"/>
          </a:bodyPr>
          <a:lstStyle/>
          <a:p>
            <a:pPr marL="0" indent="0" algn="l">
              <a:lnSpc>
                <a:spcPct val="130000"/>
              </a:lnSpc>
              <a:buNone/>
            </a:pPr>
            <a:r>
              <a:rPr lang="en-US" sz="1800" b="1" dirty="0">
                <a:solidFill>
                  <a:srgbClr val="201E1D"/>
                </a:solidFill>
                <a:latin typeface="Arial" pitchFamily="34" charset="0"/>
                <a:ea typeface="Arial" pitchFamily="34" charset="-122"/>
                <a:cs typeface="Arial" pitchFamily="34" charset="-120"/>
              </a:rPr>
              <a:t>Websites Need Skills</a:t>
            </a:r>
            <a:endParaRPr lang="en-US" sz="1950" dirty="0"/>
          </a:p>
        </p:txBody>
      </p:sp>
      <p:sp>
        <p:nvSpPr>
          <p:cNvPr id="8" name="Text 5"/>
          <p:cNvSpPr/>
          <p:nvPr/>
        </p:nvSpPr>
        <p:spPr>
          <a:xfrm>
            <a:off x="10172700" y="3415457"/>
            <a:ext cx="7279577" cy="959941"/>
          </a:xfrm>
          <a:prstGeom prst="rect">
            <a:avLst/>
          </a:prstGeom>
          <a:noFill/>
          <a:ln/>
        </p:spPr>
        <p:txBody>
          <a:bodyPr wrap="square" lIns="25400" tIns="25400" rIns="25400" bIns="25400" rtlCol="0" anchor="t">
            <a:normAutofit fontScale="92105" lnSpcReduction="4737"/>
          </a:bodyPr>
          <a:lstStyle/>
          <a:p>
            <a:pPr marL="0" indent="0" algn="l">
              <a:lnSpc>
                <a:spcPct val="117419"/>
              </a:lnSpc>
              <a:buNone/>
            </a:pPr>
            <a:r>
              <a:rPr lang="en-US" sz="1800" dirty="0">
                <a:solidFill>
                  <a:srgbClr val="605D5D"/>
                </a:solidFill>
                <a:latin typeface="Arial" pitchFamily="34" charset="0"/>
                <a:ea typeface="Arial" pitchFamily="34" charset="-122"/>
                <a:cs typeface="Arial" pitchFamily="34" charset="-120"/>
              </a:rPr>
              <a:t>Coding, design, and budget keep many people from building a site at all.</a:t>
            </a:r>
            <a:endParaRPr lang="en-US" sz="19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25000" y="4642098"/>
            <a:ext cx="419100" cy="419100"/>
          </a:xfrm>
          <a:prstGeom prst="rect">
            <a:avLst/>
          </a:prstGeom>
        </p:spPr>
      </p:pic>
      <p:sp>
        <p:nvSpPr>
          <p:cNvPr id="10" name="Text 6"/>
          <p:cNvSpPr/>
          <p:nvPr/>
        </p:nvSpPr>
        <p:spPr>
          <a:xfrm>
            <a:off x="10172700" y="4642098"/>
            <a:ext cx="7774305" cy="421928"/>
          </a:xfrm>
          <a:prstGeom prst="rect">
            <a:avLst/>
          </a:prstGeom>
          <a:noFill/>
          <a:ln/>
        </p:spPr>
        <p:txBody>
          <a:bodyPr wrap="square" lIns="25400" tIns="25400" rIns="25400" bIns="25400" rtlCol="0" anchor="t">
            <a:normAutofit fontScale="85000" lnSpcReduction="9000"/>
          </a:bodyPr>
          <a:lstStyle/>
          <a:p>
            <a:pPr marL="0" indent="0" algn="l">
              <a:lnSpc>
                <a:spcPct val="130000"/>
              </a:lnSpc>
              <a:buNone/>
            </a:pPr>
            <a:r>
              <a:rPr lang="en-US" sz="1800" b="1" dirty="0">
                <a:solidFill>
                  <a:srgbClr val="201E1D"/>
                </a:solidFill>
                <a:latin typeface="Arial" pitchFamily="34" charset="0"/>
                <a:ea typeface="Arial" pitchFamily="34" charset="-122"/>
                <a:cs typeface="Arial" pitchFamily="34" charset="-120"/>
              </a:rPr>
              <a:t>Builders Still Demand Effort</a:t>
            </a:r>
            <a:endParaRPr lang="en-US" sz="1950" dirty="0"/>
          </a:p>
        </p:txBody>
      </p:sp>
      <p:sp>
        <p:nvSpPr>
          <p:cNvPr id="11" name="Text 7"/>
          <p:cNvSpPr/>
          <p:nvPr/>
        </p:nvSpPr>
        <p:spPr>
          <a:xfrm>
            <a:off x="10172700" y="5102126"/>
            <a:ext cx="7279577" cy="959941"/>
          </a:xfrm>
          <a:prstGeom prst="rect">
            <a:avLst/>
          </a:prstGeom>
          <a:noFill/>
          <a:ln/>
        </p:spPr>
        <p:txBody>
          <a:bodyPr wrap="square" lIns="25400" tIns="25400" rIns="25400" bIns="25400" rtlCol="0" anchor="t">
            <a:normAutofit fontScale="92105" lnSpcReduction="4737"/>
          </a:bodyPr>
          <a:lstStyle/>
          <a:p>
            <a:pPr marL="0" indent="0" algn="l">
              <a:lnSpc>
                <a:spcPct val="117419"/>
              </a:lnSpc>
              <a:buNone/>
            </a:pPr>
            <a:r>
              <a:rPr lang="en-US" sz="1800" dirty="0">
                <a:solidFill>
                  <a:srgbClr val="605D5D"/>
                </a:solidFill>
                <a:latin typeface="Arial" pitchFamily="34" charset="0"/>
                <a:ea typeface="Arial" pitchFamily="34" charset="-122"/>
                <a:cs typeface="Arial" pitchFamily="34" charset="-120"/>
              </a:rPr>
              <a:t>Even drag-and-drop tools require manually picking templates and sections.</a:t>
            </a:r>
            <a:endParaRPr lang="en-US" sz="19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25000" y="6328767"/>
            <a:ext cx="419100" cy="419100"/>
          </a:xfrm>
          <a:prstGeom prst="rect">
            <a:avLst/>
          </a:prstGeom>
        </p:spPr>
      </p:pic>
      <p:sp>
        <p:nvSpPr>
          <p:cNvPr id="13" name="Text 8"/>
          <p:cNvSpPr/>
          <p:nvPr/>
        </p:nvSpPr>
        <p:spPr>
          <a:xfrm>
            <a:off x="10172700" y="6328767"/>
            <a:ext cx="7774305" cy="421928"/>
          </a:xfrm>
          <a:prstGeom prst="rect">
            <a:avLst/>
          </a:prstGeom>
          <a:noFill/>
          <a:ln/>
        </p:spPr>
        <p:txBody>
          <a:bodyPr wrap="square" lIns="25400" tIns="25400" rIns="25400" bIns="25400" rtlCol="0" anchor="t">
            <a:normAutofit fontScale="85000" lnSpcReduction="9000"/>
          </a:bodyPr>
          <a:lstStyle/>
          <a:p>
            <a:pPr marL="0" indent="0" algn="l">
              <a:lnSpc>
                <a:spcPct val="130000"/>
              </a:lnSpc>
              <a:buNone/>
            </a:pPr>
            <a:r>
              <a:rPr lang="en-US" sz="1800" b="1" dirty="0">
                <a:solidFill>
                  <a:srgbClr val="201E1D"/>
                </a:solidFill>
                <a:latin typeface="Arial" pitchFamily="34" charset="0"/>
                <a:ea typeface="Arial" pitchFamily="34" charset="-122"/>
                <a:cs typeface="Arial" pitchFamily="34" charset="-120"/>
              </a:rPr>
              <a:t>Language-First Alternative</a:t>
            </a:r>
            <a:endParaRPr lang="en-US" sz="1950" dirty="0"/>
          </a:p>
        </p:txBody>
      </p:sp>
      <p:sp>
        <p:nvSpPr>
          <p:cNvPr id="14" name="Text 9"/>
          <p:cNvSpPr/>
          <p:nvPr/>
        </p:nvSpPr>
        <p:spPr>
          <a:xfrm>
            <a:off x="10172700" y="6788795"/>
            <a:ext cx="7279577" cy="959941"/>
          </a:xfrm>
          <a:prstGeom prst="rect">
            <a:avLst/>
          </a:prstGeom>
          <a:noFill/>
          <a:ln/>
        </p:spPr>
        <p:txBody>
          <a:bodyPr wrap="square" lIns="25400" tIns="25400" rIns="25400" bIns="25400" rtlCol="0" anchor="t">
            <a:normAutofit fontScale="92105" lnSpcReduction="4737"/>
          </a:bodyPr>
          <a:lstStyle/>
          <a:p>
            <a:pPr marL="0" indent="0" algn="l">
              <a:lnSpc>
                <a:spcPct val="117419"/>
              </a:lnSpc>
              <a:buNone/>
            </a:pPr>
            <a:r>
              <a:rPr lang="en-US" sz="1800" dirty="0">
                <a:solidFill>
                  <a:srgbClr val="605D5D"/>
                </a:solidFill>
                <a:latin typeface="Arial" pitchFamily="34" charset="0"/>
                <a:ea typeface="Arial" pitchFamily="34" charset="-122"/>
                <a:cs typeface="Arial" pitchFamily="34" charset="-120"/>
              </a:rPr>
              <a:t>This project turns one plain-English sentence directly into a finished site.</a:t>
            </a:r>
            <a:endParaRPr lang="en-US" sz="1950" dirty="0"/>
          </a:p>
        </p:txBody>
      </p:sp>
      <p:sp>
        <p:nvSpPr>
          <p:cNvPr id="15" name="Shape 10"/>
          <p:cNvSpPr/>
          <p:nvPr/>
        </p:nvSpPr>
        <p:spPr>
          <a:xfrm>
            <a:off x="1047750" y="8474422"/>
            <a:ext cx="16192500" cy="19050"/>
          </a:xfrm>
          <a:prstGeom prst="rect">
            <a:avLst/>
          </a:prstGeom>
          <a:solidFill>
            <a:srgbClr val="201E1E">
              <a:alpha val="40000"/>
            </a:srgbClr>
          </a:solidFill>
          <a:ln/>
        </p:spPr>
        <p:txBody>
          <a:bodyPr/>
          <a:lstStyle/>
          <a:p>
            <a:endParaRPr lang="en-US"/>
          </a:p>
        </p:txBody>
      </p:sp>
      <p:sp>
        <p:nvSpPr>
          <p:cNvPr id="23" name="Text 18"/>
          <p:cNvSpPr/>
          <p:nvPr/>
        </p:nvSpPr>
        <p:spPr>
          <a:xfrm>
            <a:off x="1047750" y="9572625"/>
            <a:ext cx="566243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AI WEBSITE BUILDER</a:t>
            </a:r>
            <a:endParaRPr lang="en-US" sz="1500" dirty="0"/>
          </a:p>
        </p:txBody>
      </p:sp>
      <p:sp>
        <p:nvSpPr>
          <p:cNvPr id="24" name="Text 19"/>
          <p:cNvSpPr/>
          <p:nvPr/>
        </p:nvSpPr>
        <p:spPr>
          <a:xfrm>
            <a:off x="17000786" y="9572625"/>
            <a:ext cx="31566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02</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kern="0" spc="180" dirty="0">
                <a:solidFill>
                  <a:srgbClr val="EC3013"/>
                </a:solidFill>
                <a:latin typeface="Arial" pitchFamily="34" charset="0"/>
                <a:ea typeface="Arial" pitchFamily="34" charset="-122"/>
                <a:cs typeface="Arial" pitchFamily="34" charset="-120"/>
              </a:rPr>
              <a:t>02 · PROBLEM STATEMENT</a:t>
            </a:r>
            <a:endParaRPr lang="en-US" sz="1800" dirty="0"/>
          </a:p>
        </p:txBody>
      </p:sp>
      <p:sp>
        <p:nvSpPr>
          <p:cNvPr id="3" name="Shape 1"/>
          <p:cNvSpPr/>
          <p:nvPr/>
        </p:nvSpPr>
        <p:spPr>
          <a:xfrm>
            <a:off x="1047750" y="1440061"/>
            <a:ext cx="16192500" cy="19050"/>
          </a:xfrm>
          <a:prstGeom prst="rect">
            <a:avLst/>
          </a:prstGeom>
          <a:solidFill>
            <a:srgbClr val="201E1E">
              <a:alpha val="40000"/>
            </a:srgbClr>
          </a:solidFill>
          <a:ln/>
        </p:spPr>
        <p:txBody>
          <a:bodyPr/>
          <a:lstStyle/>
          <a:p>
            <a:endParaRPr lang="en-US"/>
          </a:p>
        </p:txBody>
      </p:sp>
      <p:sp>
        <p:nvSpPr>
          <p:cNvPr id="4" name="Text 2"/>
          <p:cNvSpPr/>
          <p:nvPr/>
        </p:nvSpPr>
        <p:spPr>
          <a:xfrm>
            <a:off x="1047750" y="1840111"/>
            <a:ext cx="17811750" cy="658118"/>
          </a:xfrm>
          <a:prstGeom prst="rect">
            <a:avLst/>
          </a:prstGeom>
          <a:noFill/>
          <a:ln/>
        </p:spPr>
        <p:txBody>
          <a:bodyPr wrap="square" lIns="25400" tIns="25400" rIns="25400" bIns="25400" rtlCol="0" anchor="t">
            <a:normAutofit/>
          </a:bodyPr>
          <a:lstStyle/>
          <a:p>
            <a:pPr marL="0" indent="0" algn="l">
              <a:lnSpc>
                <a:spcPct val="91690"/>
              </a:lnSpc>
              <a:buNone/>
            </a:pPr>
            <a:r>
              <a:rPr lang="en-US" sz="4650" b="1" kern="0" spc="-93" dirty="0">
                <a:solidFill>
                  <a:srgbClr val="201E1D"/>
                </a:solidFill>
                <a:latin typeface="Arial" pitchFamily="34" charset="0"/>
                <a:ea typeface="Arial" pitchFamily="34" charset="-122"/>
                <a:cs typeface="Arial" pitchFamily="34" charset="-120"/>
              </a:rPr>
              <a:t>Problem Statement</a:t>
            </a:r>
            <a:endParaRPr lang="en-US" sz="4650" dirty="0"/>
          </a:p>
        </p:txBody>
      </p:sp>
      <p:sp>
        <p:nvSpPr>
          <p:cNvPr id="5" name="Text 3"/>
          <p:cNvSpPr/>
          <p:nvPr/>
        </p:nvSpPr>
        <p:spPr>
          <a:xfrm>
            <a:off x="1047750" y="2879229"/>
            <a:ext cx="14716125" cy="2015490"/>
          </a:xfrm>
          <a:prstGeom prst="rect">
            <a:avLst/>
          </a:prstGeom>
          <a:noFill/>
          <a:ln/>
        </p:spPr>
        <p:txBody>
          <a:bodyPr wrap="square" lIns="25400" tIns="25400" rIns="25400" bIns="25400" rtlCol="0" anchor="t">
            <a:normAutofit fontScale="91624" lnSpcReduction="5025"/>
          </a:bodyPr>
          <a:lstStyle/>
          <a:p>
            <a:pPr marL="0" indent="0" algn="l">
              <a:lnSpc>
                <a:spcPct val="127941"/>
              </a:lnSpc>
              <a:buNone/>
            </a:pPr>
            <a:r>
              <a:rPr lang="en-US" sz="2250" dirty="0">
                <a:solidFill>
                  <a:srgbClr val="201E1D"/>
                </a:solidFill>
                <a:latin typeface="Arial" pitchFamily="34" charset="0"/>
                <a:ea typeface="Arial" pitchFamily="34" charset="-122"/>
                <a:cs typeface="Arial" pitchFamily="34" charset="-120"/>
              </a:rPr>
              <a:t>Hiring a developer or learning HTML/CSS/JS is slow and expensive, while drag-and-drop builders still force users to pick templates and sections themselves. AI-assisted builders that accept a text prompt exist, but they are closed, cloud-only, and unaffordable for a student team to study or replicate. The result is a persistent gap between a person's plain-language idea and a working website.</a:t>
            </a:r>
            <a:endParaRPr lang="en-US" sz="2250" dirty="0"/>
          </a:p>
        </p:txBody>
      </p:sp>
      <p:sp>
        <p:nvSpPr>
          <p:cNvPr id="6" name="Shape 4"/>
          <p:cNvSpPr/>
          <p:nvPr/>
        </p:nvSpPr>
        <p:spPr>
          <a:xfrm>
            <a:off x="1047750" y="5069979"/>
            <a:ext cx="16192500" cy="3803749"/>
          </a:xfrm>
          <a:prstGeom prst="rect">
            <a:avLst/>
          </a:prstGeom>
          <a:solidFill>
            <a:srgbClr val="201E1E">
              <a:alpha val="40000"/>
            </a:srgbClr>
          </a:solidFill>
          <a:ln/>
        </p:spPr>
        <p:txBody>
          <a:bodyPr/>
          <a:lstStyle/>
          <a:p>
            <a:endParaRPr lang="en-US"/>
          </a:p>
        </p:txBody>
      </p:sp>
      <p:sp>
        <p:nvSpPr>
          <p:cNvPr id="7" name="Shape 5"/>
          <p:cNvSpPr/>
          <p:nvPr/>
        </p:nvSpPr>
        <p:spPr>
          <a:xfrm>
            <a:off x="1047750" y="5069979"/>
            <a:ext cx="16192500" cy="19050"/>
          </a:xfrm>
          <a:prstGeom prst="rect">
            <a:avLst/>
          </a:prstGeom>
          <a:solidFill>
            <a:srgbClr val="201E1E">
              <a:alpha val="40000"/>
            </a:srgbClr>
          </a:solidFill>
          <a:ln/>
        </p:spPr>
        <p:txBody>
          <a:bodyPr/>
          <a:lstStyle/>
          <a:p>
            <a:endParaRPr lang="en-US"/>
          </a:p>
        </p:txBody>
      </p:sp>
      <p:sp>
        <p:nvSpPr>
          <p:cNvPr id="8" name="Shape 6"/>
          <p:cNvSpPr/>
          <p:nvPr/>
        </p:nvSpPr>
        <p:spPr>
          <a:xfrm>
            <a:off x="1047750" y="5089029"/>
            <a:ext cx="8086725" cy="2054275"/>
          </a:xfrm>
          <a:prstGeom prst="rect">
            <a:avLst/>
          </a:prstGeom>
          <a:solidFill>
            <a:srgbClr val="F3F2F2"/>
          </a:solidFill>
          <a:ln/>
        </p:spPr>
        <p:txBody>
          <a:bodyPr/>
          <a:lstStyle/>
          <a:p>
            <a:endParaRPr 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50" y="5431929"/>
            <a:ext cx="419100" cy="419100"/>
          </a:xfrm>
          <a:prstGeom prst="rect">
            <a:avLst/>
          </a:prstGeom>
        </p:spPr>
      </p:pic>
      <p:sp>
        <p:nvSpPr>
          <p:cNvPr id="10" name="Text 7"/>
          <p:cNvSpPr/>
          <p:nvPr/>
        </p:nvSpPr>
        <p:spPr>
          <a:xfrm>
            <a:off x="1695450" y="5431929"/>
            <a:ext cx="7763828" cy="599033"/>
          </a:xfrm>
          <a:prstGeom prst="rect">
            <a:avLst/>
          </a:prstGeom>
          <a:noFill/>
          <a:ln/>
        </p:spPr>
        <p:txBody>
          <a:bodyPr wrap="square" lIns="25400" tIns="25400" rIns="25400" bIns="25400" rtlCol="0" anchor="t">
            <a:normAutofit fontScale="85000" lnSpcReduction="9000"/>
          </a:bodyPr>
          <a:lstStyle/>
          <a:p>
            <a:pPr marL="0" indent="0" algn="l">
              <a:lnSpc>
                <a:spcPct val="136977"/>
              </a:lnSpc>
              <a:buNone/>
            </a:pPr>
            <a:r>
              <a:rPr lang="en-US" sz="1800" b="1" kern="0" spc="-29" dirty="0">
                <a:solidFill>
                  <a:srgbClr val="201E1D"/>
                </a:solidFill>
                <a:latin typeface="Arial" pitchFamily="34" charset="0"/>
                <a:ea typeface="Arial" pitchFamily="34" charset="-122"/>
                <a:cs typeface="Arial" pitchFamily="34" charset="-120"/>
              </a:rPr>
              <a:t>Commercial Builders Need Manual Assembly</a:t>
            </a:r>
            <a:endParaRPr lang="en-US" sz="2850" dirty="0"/>
          </a:p>
        </p:txBody>
      </p:sp>
      <p:sp>
        <p:nvSpPr>
          <p:cNvPr id="11" name="Text 8"/>
          <p:cNvSpPr/>
          <p:nvPr/>
        </p:nvSpPr>
        <p:spPr>
          <a:xfrm>
            <a:off x="1695450" y="6107162"/>
            <a:ext cx="7269766" cy="914221"/>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1800" dirty="0">
                <a:solidFill>
                  <a:srgbClr val="605D5D"/>
                </a:solidFill>
                <a:latin typeface="Arial" pitchFamily="34" charset="0"/>
                <a:ea typeface="Arial" pitchFamily="34" charset="-122"/>
                <a:cs typeface="Arial" pitchFamily="34" charset="-120"/>
              </a:rPr>
              <a:t>Wix/Squarespace still require browsing templates and placing blocks by hand.</a:t>
            </a:r>
            <a:endParaRPr lang="en-US" sz="1950" dirty="0"/>
          </a:p>
        </p:txBody>
      </p:sp>
      <p:sp>
        <p:nvSpPr>
          <p:cNvPr id="12" name="Shape 9"/>
          <p:cNvSpPr/>
          <p:nvPr/>
        </p:nvSpPr>
        <p:spPr>
          <a:xfrm>
            <a:off x="9153525" y="5089029"/>
            <a:ext cx="8086725" cy="2054275"/>
          </a:xfrm>
          <a:prstGeom prst="rect">
            <a:avLst/>
          </a:prstGeom>
          <a:solidFill>
            <a:srgbClr val="F3F2F2"/>
          </a:solidFill>
          <a:ln/>
        </p:spPr>
        <p:txBody>
          <a:bodyPr/>
          <a:lstStyle/>
          <a:p>
            <a:endParaRPr lang="en-US"/>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34525" y="5431929"/>
            <a:ext cx="419100" cy="419100"/>
          </a:xfrm>
          <a:prstGeom prst="rect">
            <a:avLst/>
          </a:prstGeom>
        </p:spPr>
      </p:pic>
      <p:sp>
        <p:nvSpPr>
          <p:cNvPr id="14" name="Text 10"/>
          <p:cNvSpPr/>
          <p:nvPr/>
        </p:nvSpPr>
        <p:spPr>
          <a:xfrm>
            <a:off x="10182225" y="5431929"/>
            <a:ext cx="7763828" cy="599033"/>
          </a:xfrm>
          <a:prstGeom prst="rect">
            <a:avLst/>
          </a:prstGeom>
          <a:noFill/>
          <a:ln/>
        </p:spPr>
        <p:txBody>
          <a:bodyPr wrap="square" lIns="25400" tIns="25400" rIns="25400" bIns="25400" rtlCol="0" anchor="t">
            <a:normAutofit fontScale="85000" lnSpcReduction="9000"/>
          </a:bodyPr>
          <a:lstStyle/>
          <a:p>
            <a:pPr marL="0" indent="0" algn="l">
              <a:lnSpc>
                <a:spcPct val="136977"/>
              </a:lnSpc>
              <a:buNone/>
            </a:pPr>
            <a:r>
              <a:rPr lang="en-US" sz="1800" b="1" kern="0" spc="-29" dirty="0">
                <a:solidFill>
                  <a:srgbClr val="201E1D"/>
                </a:solidFill>
                <a:latin typeface="Arial" pitchFamily="34" charset="0"/>
                <a:ea typeface="Arial" pitchFamily="34" charset="-122"/>
                <a:cs typeface="Arial" pitchFamily="34" charset="-120"/>
              </a:rPr>
              <a:t>AI Builders Are Closed Black Boxes</a:t>
            </a:r>
            <a:endParaRPr lang="en-US" sz="2850" dirty="0"/>
          </a:p>
        </p:txBody>
      </p:sp>
      <p:sp>
        <p:nvSpPr>
          <p:cNvPr id="15" name="Text 11"/>
          <p:cNvSpPr/>
          <p:nvPr/>
        </p:nvSpPr>
        <p:spPr>
          <a:xfrm>
            <a:off x="10182225" y="6107162"/>
            <a:ext cx="7269766" cy="914221"/>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1800" dirty="0">
                <a:solidFill>
                  <a:srgbClr val="605D5D"/>
                </a:solidFill>
                <a:latin typeface="Arial" pitchFamily="34" charset="0"/>
                <a:ea typeface="Arial" pitchFamily="34" charset="-122"/>
                <a:cs typeface="Arial" pitchFamily="34" charset="-120"/>
              </a:rPr>
              <a:t>Hosted tools like Durable hide their models, need subscriptions, and offer no offline mode.</a:t>
            </a:r>
            <a:endParaRPr lang="en-US" sz="1950" dirty="0"/>
          </a:p>
        </p:txBody>
      </p:sp>
      <p:sp>
        <p:nvSpPr>
          <p:cNvPr id="16" name="Shape 12"/>
          <p:cNvSpPr/>
          <p:nvPr/>
        </p:nvSpPr>
        <p:spPr>
          <a:xfrm>
            <a:off x="1047750" y="7162354"/>
            <a:ext cx="8086725" cy="1711375"/>
          </a:xfrm>
          <a:prstGeom prst="rect">
            <a:avLst/>
          </a:prstGeom>
          <a:solidFill>
            <a:srgbClr val="F3F2F2"/>
          </a:solidFill>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7750" y="7505254"/>
            <a:ext cx="419100" cy="419100"/>
          </a:xfrm>
          <a:prstGeom prst="rect">
            <a:avLst/>
          </a:prstGeom>
        </p:spPr>
      </p:pic>
      <p:sp>
        <p:nvSpPr>
          <p:cNvPr id="18" name="Text 13"/>
          <p:cNvSpPr/>
          <p:nvPr/>
        </p:nvSpPr>
        <p:spPr>
          <a:xfrm>
            <a:off x="1695450" y="7505254"/>
            <a:ext cx="7763828" cy="599033"/>
          </a:xfrm>
          <a:prstGeom prst="rect">
            <a:avLst/>
          </a:prstGeom>
          <a:noFill/>
          <a:ln/>
        </p:spPr>
        <p:txBody>
          <a:bodyPr wrap="square" lIns="25400" tIns="25400" rIns="25400" bIns="25400" rtlCol="0" anchor="t">
            <a:normAutofit fontScale="85000" lnSpcReduction="9000"/>
          </a:bodyPr>
          <a:lstStyle/>
          <a:p>
            <a:pPr marL="0" indent="0" algn="l">
              <a:lnSpc>
                <a:spcPct val="136977"/>
              </a:lnSpc>
              <a:buNone/>
            </a:pPr>
            <a:r>
              <a:rPr lang="en-US" sz="1800" b="1" kern="0" spc="-29" dirty="0">
                <a:solidFill>
                  <a:srgbClr val="201E1D"/>
                </a:solidFill>
                <a:latin typeface="Arial" pitchFamily="34" charset="0"/>
                <a:ea typeface="Arial" pitchFamily="34" charset="-122"/>
                <a:cs typeface="Arial" pitchFamily="34" charset="-120"/>
              </a:rPr>
              <a:t>Research Pipeline Needs Heavy Compute</a:t>
            </a:r>
            <a:endParaRPr lang="en-US" sz="2850" dirty="0"/>
          </a:p>
        </p:txBody>
      </p:sp>
      <p:sp>
        <p:nvSpPr>
          <p:cNvPr id="19" name="Text 14"/>
          <p:cNvSpPr/>
          <p:nvPr/>
        </p:nvSpPr>
        <p:spPr>
          <a:xfrm>
            <a:off x="1695450" y="8180487"/>
            <a:ext cx="7269766" cy="1005661"/>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1800" dirty="0">
                <a:solidFill>
                  <a:srgbClr val="605D5D"/>
                </a:solidFill>
                <a:latin typeface="Arial" pitchFamily="34" charset="0"/>
                <a:ea typeface="Arial" pitchFamily="34" charset="-122"/>
                <a:cs typeface="Arial" pitchFamily="34" charset="-120"/>
              </a:rPr>
              <a:t>The base paper's transformer + RL pipeline needs GPUs and datasets a student team lacks.</a:t>
            </a:r>
            <a:endParaRPr lang="en-US" sz="1950" dirty="0"/>
          </a:p>
        </p:txBody>
      </p:sp>
      <p:sp>
        <p:nvSpPr>
          <p:cNvPr id="20" name="Shape 15"/>
          <p:cNvSpPr/>
          <p:nvPr/>
        </p:nvSpPr>
        <p:spPr>
          <a:xfrm>
            <a:off x="9153525" y="7162354"/>
            <a:ext cx="8086725" cy="1711375"/>
          </a:xfrm>
          <a:prstGeom prst="rect">
            <a:avLst/>
          </a:prstGeom>
          <a:solidFill>
            <a:srgbClr val="F3F2F2"/>
          </a:solidFill>
          <a:ln/>
        </p:spPr>
        <p:txBody>
          <a:bodyPr/>
          <a:lstStyle/>
          <a:p>
            <a:endParaRPr lang="en-US"/>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34525" y="7505254"/>
            <a:ext cx="419100" cy="419100"/>
          </a:xfrm>
          <a:prstGeom prst="rect">
            <a:avLst/>
          </a:prstGeom>
        </p:spPr>
      </p:pic>
      <p:sp>
        <p:nvSpPr>
          <p:cNvPr id="22" name="Text 16"/>
          <p:cNvSpPr/>
          <p:nvPr/>
        </p:nvSpPr>
        <p:spPr>
          <a:xfrm>
            <a:off x="10182225" y="7505254"/>
            <a:ext cx="7763828" cy="599033"/>
          </a:xfrm>
          <a:prstGeom prst="rect">
            <a:avLst/>
          </a:prstGeom>
          <a:noFill/>
          <a:ln/>
        </p:spPr>
        <p:txBody>
          <a:bodyPr wrap="square" lIns="25400" tIns="25400" rIns="25400" bIns="25400" rtlCol="0" anchor="t">
            <a:normAutofit fontScale="85000" lnSpcReduction="9000"/>
          </a:bodyPr>
          <a:lstStyle/>
          <a:p>
            <a:pPr marL="0" indent="0" algn="l">
              <a:lnSpc>
                <a:spcPct val="136977"/>
              </a:lnSpc>
              <a:buNone/>
            </a:pPr>
            <a:r>
              <a:rPr lang="en-US" sz="1800" b="1" kern="0" spc="-29" dirty="0">
                <a:solidFill>
                  <a:srgbClr val="201E1D"/>
                </a:solidFill>
                <a:latin typeface="Arial" pitchFamily="34" charset="0"/>
                <a:ea typeface="Arial" pitchFamily="34" charset="-122"/>
                <a:cs typeface="Arial" pitchFamily="34" charset="-120"/>
              </a:rPr>
              <a:t>No Honest Confidence Signal</a:t>
            </a:r>
            <a:endParaRPr lang="en-US" sz="2850" dirty="0"/>
          </a:p>
        </p:txBody>
      </p:sp>
      <p:sp>
        <p:nvSpPr>
          <p:cNvPr id="23" name="Text 17"/>
          <p:cNvSpPr/>
          <p:nvPr/>
        </p:nvSpPr>
        <p:spPr>
          <a:xfrm>
            <a:off x="10182225" y="8180487"/>
            <a:ext cx="7269766" cy="1005661"/>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1800" dirty="0">
                <a:solidFill>
                  <a:srgbClr val="605D5D"/>
                </a:solidFill>
                <a:latin typeface="Arial" pitchFamily="34" charset="0"/>
                <a:ea typeface="Arial" pitchFamily="34" charset="-122"/>
                <a:cs typeface="Arial" pitchFamily="34" charset="-120"/>
              </a:rPr>
              <a:t>Existing tools return an answer regardless of certainty, with no warning when a guess is shaky.</a:t>
            </a:r>
            <a:endParaRPr lang="en-US" sz="1950" dirty="0"/>
          </a:p>
        </p:txBody>
      </p:sp>
      <p:sp>
        <p:nvSpPr>
          <p:cNvPr id="24" name="Text 18"/>
          <p:cNvSpPr/>
          <p:nvPr/>
        </p:nvSpPr>
        <p:spPr>
          <a:xfrm>
            <a:off x="1047750" y="9572625"/>
            <a:ext cx="566243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AI WEBSITE BUILDER</a:t>
            </a:r>
            <a:endParaRPr lang="en-US" sz="1500" dirty="0"/>
          </a:p>
        </p:txBody>
      </p:sp>
      <p:sp>
        <p:nvSpPr>
          <p:cNvPr id="25" name="Text 19"/>
          <p:cNvSpPr/>
          <p:nvPr/>
        </p:nvSpPr>
        <p:spPr>
          <a:xfrm>
            <a:off x="17000786" y="9572625"/>
            <a:ext cx="31566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03</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kern="0" spc="180" dirty="0">
                <a:solidFill>
                  <a:srgbClr val="EC3013"/>
                </a:solidFill>
                <a:latin typeface="Arial" pitchFamily="34" charset="0"/>
                <a:ea typeface="Arial" pitchFamily="34" charset="-122"/>
                <a:cs typeface="Arial" pitchFamily="34" charset="-120"/>
              </a:rPr>
              <a:t>03 · OBJECTIVES</a:t>
            </a:r>
            <a:endParaRPr lang="en-US" sz="1800" dirty="0"/>
          </a:p>
        </p:txBody>
      </p:sp>
      <p:sp>
        <p:nvSpPr>
          <p:cNvPr id="3" name="Text 1"/>
          <p:cNvSpPr/>
          <p:nvPr/>
        </p:nvSpPr>
        <p:spPr>
          <a:xfrm>
            <a:off x="1047750" y="1821061"/>
            <a:ext cx="17811750" cy="658118"/>
          </a:xfrm>
          <a:prstGeom prst="rect">
            <a:avLst/>
          </a:prstGeom>
          <a:noFill/>
          <a:ln/>
        </p:spPr>
        <p:txBody>
          <a:bodyPr wrap="square" lIns="25400" tIns="25400" rIns="25400" bIns="25400" rtlCol="0" anchor="t">
            <a:normAutofit/>
          </a:bodyPr>
          <a:lstStyle/>
          <a:p>
            <a:pPr marL="0" indent="0" algn="l">
              <a:lnSpc>
                <a:spcPct val="91690"/>
              </a:lnSpc>
              <a:buNone/>
            </a:pPr>
            <a:r>
              <a:rPr lang="en-US" sz="4650" b="1" kern="0" spc="-93" dirty="0">
                <a:solidFill>
                  <a:srgbClr val="201E1D"/>
                </a:solidFill>
                <a:latin typeface="Arial" pitchFamily="34" charset="0"/>
                <a:ea typeface="Arial" pitchFamily="34" charset="-122"/>
                <a:cs typeface="Arial" pitchFamily="34" charset="-120"/>
              </a:rPr>
              <a:t>Project Objectives</a:t>
            </a:r>
            <a:endParaRPr lang="en-US" sz="4650" dirty="0"/>
          </a:p>
        </p:txBody>
      </p:sp>
      <p:sp>
        <p:nvSpPr>
          <p:cNvPr id="4" name="Shape 2"/>
          <p:cNvSpPr/>
          <p:nvPr/>
        </p:nvSpPr>
        <p:spPr>
          <a:xfrm>
            <a:off x="1047750" y="2898279"/>
            <a:ext cx="16192500" cy="17090"/>
          </a:xfrm>
          <a:prstGeom prst="rect">
            <a:avLst/>
          </a:prstGeom>
          <a:solidFill>
            <a:srgbClr val="201E1E">
              <a:alpha val="40000"/>
            </a:srgbClr>
          </a:solidFill>
          <a:ln/>
        </p:spPr>
        <p:txBody>
          <a:bodyPr/>
          <a:lstStyle/>
          <a:p>
            <a:endParaRPr lang="en-US"/>
          </a:p>
        </p:txBody>
      </p:sp>
      <p:sp>
        <p:nvSpPr>
          <p:cNvPr id="5" name="Text 3"/>
          <p:cNvSpPr/>
          <p:nvPr/>
        </p:nvSpPr>
        <p:spPr>
          <a:xfrm>
            <a:off x="1047750" y="3137536"/>
            <a:ext cx="933450" cy="444334"/>
          </a:xfrm>
          <a:prstGeom prst="rect">
            <a:avLst/>
          </a:prstGeom>
          <a:noFill/>
          <a:ln/>
        </p:spPr>
        <p:txBody>
          <a:bodyPr wrap="square" lIns="25400" tIns="25400" rIns="25400" bIns="25400" rtlCol="0" anchor="t">
            <a:normAutofit/>
          </a:bodyPr>
          <a:lstStyle/>
          <a:p>
            <a:pPr marL="0" indent="0" algn="l">
              <a:lnSpc>
                <a:spcPct val="87273"/>
              </a:lnSpc>
              <a:buNone/>
            </a:pPr>
            <a:r>
              <a:rPr lang="en-US" sz="3600" b="1" dirty="0">
                <a:solidFill>
                  <a:srgbClr val="EC3013"/>
                </a:solidFill>
                <a:latin typeface="Arial" pitchFamily="34" charset="0"/>
                <a:ea typeface="Arial" pitchFamily="34" charset="-122"/>
                <a:cs typeface="Arial" pitchFamily="34" charset="-120"/>
              </a:rPr>
              <a:t>1</a:t>
            </a:r>
            <a:endParaRPr lang="en-US" sz="3600" dirty="0"/>
          </a:p>
        </p:txBody>
      </p:sp>
      <p:sp>
        <p:nvSpPr>
          <p:cNvPr id="6" name="Text 4"/>
          <p:cNvSpPr/>
          <p:nvPr/>
        </p:nvSpPr>
        <p:spPr>
          <a:xfrm>
            <a:off x="2209800" y="3222984"/>
            <a:ext cx="15481364" cy="726315"/>
          </a:xfrm>
          <a:prstGeom prst="rect">
            <a:avLst/>
          </a:prstGeom>
          <a:noFill/>
          <a:ln/>
        </p:spPr>
        <p:txBody>
          <a:bodyPr wrap="square" lIns="25400" tIns="25400" rIns="25400" bIns="25400" rtlCol="0" anchor="t">
            <a:normAutofit fontScale="92481" lnSpcReduction="4511"/>
          </a:bodyPr>
          <a:lstStyle/>
          <a:p>
            <a:pPr marL="0" indent="0" algn="l">
              <a:lnSpc>
                <a:spcPct val="119118"/>
              </a:lnSpc>
              <a:buNone/>
            </a:pPr>
            <a:r>
              <a:rPr lang="en-US" sz="2250" dirty="0">
                <a:solidFill>
                  <a:srgbClr val="201E1D"/>
                </a:solidFill>
                <a:latin typeface="Arial" pitchFamily="34" charset="0"/>
                <a:ea typeface="Arial" pitchFamily="34" charset="-122"/>
                <a:cs typeface="Arial" pitchFamily="34" charset="-120"/>
              </a:rPr>
              <a:t>Dual Classifiers — Train TF-IDF + logistic regression models to predict site type and required sections from free text.</a:t>
            </a:r>
            <a:endParaRPr lang="en-US" sz="2250" dirty="0"/>
          </a:p>
        </p:txBody>
      </p:sp>
      <p:sp>
        <p:nvSpPr>
          <p:cNvPr id="7" name="Shape 5"/>
          <p:cNvSpPr/>
          <p:nvPr/>
        </p:nvSpPr>
        <p:spPr>
          <a:xfrm>
            <a:off x="1047750" y="4137286"/>
            <a:ext cx="16192500" cy="17090"/>
          </a:xfrm>
          <a:prstGeom prst="rect">
            <a:avLst/>
          </a:prstGeom>
          <a:solidFill>
            <a:srgbClr val="201E1E">
              <a:alpha val="40000"/>
            </a:srgbClr>
          </a:solidFill>
          <a:ln/>
        </p:spPr>
        <p:txBody>
          <a:bodyPr/>
          <a:lstStyle/>
          <a:p>
            <a:endParaRPr lang="en-US"/>
          </a:p>
        </p:txBody>
      </p:sp>
      <p:sp>
        <p:nvSpPr>
          <p:cNvPr id="8" name="Text 6"/>
          <p:cNvSpPr/>
          <p:nvPr/>
        </p:nvSpPr>
        <p:spPr>
          <a:xfrm>
            <a:off x="1047750" y="4376543"/>
            <a:ext cx="933450" cy="444334"/>
          </a:xfrm>
          <a:prstGeom prst="rect">
            <a:avLst/>
          </a:prstGeom>
          <a:noFill/>
          <a:ln/>
        </p:spPr>
        <p:txBody>
          <a:bodyPr wrap="square" lIns="25400" tIns="25400" rIns="25400" bIns="25400" rtlCol="0" anchor="t">
            <a:normAutofit/>
          </a:bodyPr>
          <a:lstStyle/>
          <a:p>
            <a:pPr marL="0" indent="0" algn="l">
              <a:lnSpc>
                <a:spcPct val="87273"/>
              </a:lnSpc>
              <a:buNone/>
            </a:pPr>
            <a:r>
              <a:rPr lang="en-US" sz="3600" b="1" dirty="0">
                <a:solidFill>
                  <a:srgbClr val="EC3013"/>
                </a:solidFill>
                <a:latin typeface="Arial" pitchFamily="34" charset="0"/>
                <a:ea typeface="Arial" pitchFamily="34" charset="-122"/>
                <a:cs typeface="Arial" pitchFamily="34" charset="-120"/>
              </a:rPr>
              <a:t>2</a:t>
            </a:r>
            <a:endParaRPr lang="en-US" sz="3600" dirty="0"/>
          </a:p>
        </p:txBody>
      </p:sp>
      <p:sp>
        <p:nvSpPr>
          <p:cNvPr id="9" name="Text 7"/>
          <p:cNvSpPr/>
          <p:nvPr/>
        </p:nvSpPr>
        <p:spPr>
          <a:xfrm>
            <a:off x="2209800" y="4461992"/>
            <a:ext cx="15481364" cy="726315"/>
          </a:xfrm>
          <a:prstGeom prst="rect">
            <a:avLst/>
          </a:prstGeom>
          <a:noFill/>
          <a:ln/>
        </p:spPr>
        <p:txBody>
          <a:bodyPr wrap="square" lIns="25400" tIns="25400" rIns="25400" bIns="25400" rtlCol="0" anchor="t">
            <a:normAutofit fontScale="92481" lnSpcReduction="4511"/>
          </a:bodyPr>
          <a:lstStyle/>
          <a:p>
            <a:pPr marL="0" indent="0" algn="l">
              <a:lnSpc>
                <a:spcPct val="119118"/>
              </a:lnSpc>
              <a:buNone/>
            </a:pPr>
            <a:r>
              <a:rPr lang="en-US" sz="2250" dirty="0">
                <a:solidFill>
                  <a:srgbClr val="201E1D"/>
                </a:solidFill>
                <a:latin typeface="Arial" pitchFamily="34" charset="0"/>
                <a:ea typeface="Arial" pitchFamily="34" charset="-122"/>
                <a:cs typeface="Arial" pitchFamily="34" charset="-120"/>
              </a:rPr>
              <a:t>Rule-Based Extraction &amp; Theming — Build regex/word-list rules that pull name, contact, and tone cues into a matching palette and fonts.</a:t>
            </a:r>
            <a:endParaRPr lang="en-US" sz="2250" dirty="0"/>
          </a:p>
        </p:txBody>
      </p:sp>
      <p:sp>
        <p:nvSpPr>
          <p:cNvPr id="10" name="Shape 8"/>
          <p:cNvSpPr/>
          <p:nvPr/>
        </p:nvSpPr>
        <p:spPr>
          <a:xfrm>
            <a:off x="1047750" y="5376293"/>
            <a:ext cx="16192500" cy="17090"/>
          </a:xfrm>
          <a:prstGeom prst="rect">
            <a:avLst/>
          </a:prstGeom>
          <a:solidFill>
            <a:srgbClr val="201E1E">
              <a:alpha val="40000"/>
            </a:srgbClr>
          </a:solidFill>
          <a:ln/>
        </p:spPr>
        <p:txBody>
          <a:bodyPr/>
          <a:lstStyle/>
          <a:p>
            <a:endParaRPr lang="en-US"/>
          </a:p>
        </p:txBody>
      </p:sp>
      <p:sp>
        <p:nvSpPr>
          <p:cNvPr id="11" name="Text 9"/>
          <p:cNvSpPr/>
          <p:nvPr/>
        </p:nvSpPr>
        <p:spPr>
          <a:xfrm>
            <a:off x="1047750" y="5615550"/>
            <a:ext cx="933450" cy="444334"/>
          </a:xfrm>
          <a:prstGeom prst="rect">
            <a:avLst/>
          </a:prstGeom>
          <a:noFill/>
          <a:ln/>
        </p:spPr>
        <p:txBody>
          <a:bodyPr wrap="square" lIns="25400" tIns="25400" rIns="25400" bIns="25400" rtlCol="0" anchor="t">
            <a:normAutofit/>
          </a:bodyPr>
          <a:lstStyle/>
          <a:p>
            <a:pPr marL="0" indent="0" algn="l">
              <a:lnSpc>
                <a:spcPct val="87273"/>
              </a:lnSpc>
              <a:buNone/>
            </a:pPr>
            <a:r>
              <a:rPr lang="en-US" sz="3600" b="1" dirty="0">
                <a:solidFill>
                  <a:srgbClr val="EC3013"/>
                </a:solidFill>
                <a:latin typeface="Arial" pitchFamily="34" charset="0"/>
                <a:ea typeface="Arial" pitchFamily="34" charset="-122"/>
                <a:cs typeface="Arial" pitchFamily="34" charset="-120"/>
              </a:rPr>
              <a:t>3</a:t>
            </a:r>
            <a:endParaRPr lang="en-US" sz="3600" dirty="0"/>
          </a:p>
        </p:txBody>
      </p:sp>
      <p:sp>
        <p:nvSpPr>
          <p:cNvPr id="12" name="Text 10"/>
          <p:cNvSpPr/>
          <p:nvPr/>
        </p:nvSpPr>
        <p:spPr>
          <a:xfrm>
            <a:off x="2209800" y="5700999"/>
            <a:ext cx="15481364" cy="726315"/>
          </a:xfrm>
          <a:prstGeom prst="rect">
            <a:avLst/>
          </a:prstGeom>
          <a:noFill/>
          <a:ln/>
        </p:spPr>
        <p:txBody>
          <a:bodyPr wrap="square" lIns="25400" tIns="25400" rIns="25400" bIns="25400" rtlCol="0" anchor="t">
            <a:normAutofit fontScale="92481" lnSpcReduction="4511"/>
          </a:bodyPr>
          <a:lstStyle/>
          <a:p>
            <a:pPr marL="0" indent="0" algn="l">
              <a:lnSpc>
                <a:spcPct val="119118"/>
              </a:lnSpc>
              <a:buNone/>
            </a:pPr>
            <a:r>
              <a:rPr lang="en-US" sz="2250" dirty="0">
                <a:solidFill>
                  <a:srgbClr val="201E1D"/>
                </a:solidFill>
                <a:latin typeface="Arial" pitchFamily="34" charset="0"/>
                <a:ea typeface="Arial" pitchFamily="34" charset="-122"/>
                <a:cs typeface="Arial" pitchFamily="34" charset="-120"/>
              </a:rPr>
              <a:t>Assembly &amp; Rendering Pipeline — Combine predicted sections with a navbar/hero/footer and render a live responsive preview via Jinja2.</a:t>
            </a:r>
            <a:endParaRPr lang="en-US" sz="2250" dirty="0"/>
          </a:p>
        </p:txBody>
      </p:sp>
      <p:sp>
        <p:nvSpPr>
          <p:cNvPr id="13" name="Shape 11"/>
          <p:cNvSpPr/>
          <p:nvPr/>
        </p:nvSpPr>
        <p:spPr>
          <a:xfrm>
            <a:off x="1047750" y="6615301"/>
            <a:ext cx="16192500" cy="17090"/>
          </a:xfrm>
          <a:prstGeom prst="rect">
            <a:avLst/>
          </a:prstGeom>
          <a:solidFill>
            <a:srgbClr val="201E1E">
              <a:alpha val="40000"/>
            </a:srgbClr>
          </a:solidFill>
          <a:ln/>
        </p:spPr>
        <p:txBody>
          <a:bodyPr/>
          <a:lstStyle/>
          <a:p>
            <a:endParaRPr lang="en-US"/>
          </a:p>
        </p:txBody>
      </p:sp>
      <p:sp>
        <p:nvSpPr>
          <p:cNvPr id="14" name="Text 12"/>
          <p:cNvSpPr/>
          <p:nvPr/>
        </p:nvSpPr>
        <p:spPr>
          <a:xfrm>
            <a:off x="1047750" y="6854557"/>
            <a:ext cx="933450" cy="444334"/>
          </a:xfrm>
          <a:prstGeom prst="rect">
            <a:avLst/>
          </a:prstGeom>
          <a:noFill/>
          <a:ln/>
        </p:spPr>
        <p:txBody>
          <a:bodyPr wrap="square" lIns="25400" tIns="25400" rIns="25400" bIns="25400" rtlCol="0" anchor="t">
            <a:normAutofit/>
          </a:bodyPr>
          <a:lstStyle/>
          <a:p>
            <a:pPr marL="0" indent="0" algn="l">
              <a:lnSpc>
                <a:spcPct val="87273"/>
              </a:lnSpc>
              <a:buNone/>
            </a:pPr>
            <a:r>
              <a:rPr lang="en-US" sz="3600" b="1" dirty="0">
                <a:solidFill>
                  <a:srgbClr val="EC3013"/>
                </a:solidFill>
                <a:latin typeface="Arial" pitchFamily="34" charset="0"/>
                <a:ea typeface="Arial" pitchFamily="34" charset="-122"/>
                <a:cs typeface="Arial" pitchFamily="34" charset="-120"/>
              </a:rPr>
              <a:t>4</a:t>
            </a:r>
            <a:endParaRPr lang="en-US" sz="3600" dirty="0"/>
          </a:p>
        </p:txBody>
      </p:sp>
      <p:sp>
        <p:nvSpPr>
          <p:cNvPr id="15" name="Text 13"/>
          <p:cNvSpPr/>
          <p:nvPr/>
        </p:nvSpPr>
        <p:spPr>
          <a:xfrm>
            <a:off x="2209800" y="6940006"/>
            <a:ext cx="15481364" cy="726315"/>
          </a:xfrm>
          <a:prstGeom prst="rect">
            <a:avLst/>
          </a:prstGeom>
          <a:noFill/>
          <a:ln/>
        </p:spPr>
        <p:txBody>
          <a:bodyPr wrap="square" lIns="25400" tIns="25400" rIns="25400" bIns="25400" rtlCol="0" anchor="t">
            <a:normAutofit fontScale="92481" lnSpcReduction="4511"/>
          </a:bodyPr>
          <a:lstStyle/>
          <a:p>
            <a:pPr marL="0" indent="0" algn="l">
              <a:lnSpc>
                <a:spcPct val="119118"/>
              </a:lnSpc>
              <a:buNone/>
            </a:pPr>
            <a:r>
              <a:rPr lang="en-US" sz="2250" dirty="0">
                <a:solidFill>
                  <a:srgbClr val="201E1D"/>
                </a:solidFill>
                <a:latin typeface="Arial" pitchFamily="34" charset="0"/>
                <a:ea typeface="Arial" pitchFamily="34" charset="-122"/>
                <a:cs typeface="Arial" pitchFamily="34" charset="-120"/>
              </a:rPr>
              <a:t>Offline Export — Package the previewed site into a dependency-free ZIP that runs with no server or internet.</a:t>
            </a:r>
            <a:endParaRPr lang="en-US" sz="2250" dirty="0"/>
          </a:p>
        </p:txBody>
      </p:sp>
      <p:sp>
        <p:nvSpPr>
          <p:cNvPr id="16" name="Shape 14"/>
          <p:cNvSpPr/>
          <p:nvPr/>
        </p:nvSpPr>
        <p:spPr>
          <a:xfrm>
            <a:off x="1047750" y="9093315"/>
            <a:ext cx="16192500" cy="17090"/>
          </a:xfrm>
          <a:prstGeom prst="rect">
            <a:avLst/>
          </a:prstGeom>
          <a:solidFill>
            <a:srgbClr val="201E1E">
              <a:alpha val="40000"/>
            </a:srgbClr>
          </a:solidFill>
          <a:ln/>
        </p:spPr>
        <p:txBody>
          <a:bodyPr/>
          <a:lstStyle/>
          <a:p>
            <a:endParaRPr lang="en-US"/>
          </a:p>
        </p:txBody>
      </p:sp>
      <p:sp>
        <p:nvSpPr>
          <p:cNvPr id="17" name="Shape 15"/>
          <p:cNvSpPr/>
          <p:nvPr/>
        </p:nvSpPr>
        <p:spPr>
          <a:xfrm>
            <a:off x="1047750" y="7854308"/>
            <a:ext cx="16192500" cy="17090"/>
          </a:xfrm>
          <a:prstGeom prst="rect">
            <a:avLst/>
          </a:prstGeom>
          <a:solidFill>
            <a:srgbClr val="201E1E">
              <a:alpha val="40000"/>
            </a:srgbClr>
          </a:solidFill>
          <a:ln/>
        </p:spPr>
        <p:txBody>
          <a:bodyPr/>
          <a:lstStyle/>
          <a:p>
            <a:endParaRPr lang="en-US"/>
          </a:p>
        </p:txBody>
      </p:sp>
      <p:sp>
        <p:nvSpPr>
          <p:cNvPr id="18" name="Text 16"/>
          <p:cNvSpPr/>
          <p:nvPr/>
        </p:nvSpPr>
        <p:spPr>
          <a:xfrm>
            <a:off x="1047750" y="8093565"/>
            <a:ext cx="933450" cy="444334"/>
          </a:xfrm>
          <a:prstGeom prst="rect">
            <a:avLst/>
          </a:prstGeom>
          <a:noFill/>
          <a:ln/>
        </p:spPr>
        <p:txBody>
          <a:bodyPr wrap="square" lIns="25400" tIns="25400" rIns="25400" bIns="25400" rtlCol="0" anchor="t">
            <a:normAutofit/>
          </a:bodyPr>
          <a:lstStyle/>
          <a:p>
            <a:pPr marL="0" indent="0" algn="l">
              <a:lnSpc>
                <a:spcPct val="87273"/>
              </a:lnSpc>
              <a:buNone/>
            </a:pPr>
            <a:r>
              <a:rPr lang="en-US" sz="3600" b="1" dirty="0">
                <a:solidFill>
                  <a:srgbClr val="EC3013"/>
                </a:solidFill>
                <a:latin typeface="Arial" pitchFamily="34" charset="0"/>
                <a:ea typeface="Arial" pitchFamily="34" charset="-122"/>
                <a:cs typeface="Arial" pitchFamily="34" charset="-120"/>
              </a:rPr>
              <a:t>5</a:t>
            </a:r>
            <a:endParaRPr lang="en-US" sz="3600" dirty="0"/>
          </a:p>
        </p:txBody>
      </p:sp>
      <p:sp>
        <p:nvSpPr>
          <p:cNvPr id="19" name="Text 17"/>
          <p:cNvSpPr/>
          <p:nvPr/>
        </p:nvSpPr>
        <p:spPr>
          <a:xfrm>
            <a:off x="2209800" y="8179013"/>
            <a:ext cx="15481364" cy="726315"/>
          </a:xfrm>
          <a:prstGeom prst="rect">
            <a:avLst/>
          </a:prstGeom>
          <a:noFill/>
          <a:ln/>
        </p:spPr>
        <p:txBody>
          <a:bodyPr wrap="square" lIns="25400" tIns="25400" rIns="25400" bIns="25400" rtlCol="0" anchor="t">
            <a:normAutofit fontScale="92481" lnSpcReduction="4511"/>
          </a:bodyPr>
          <a:lstStyle/>
          <a:p>
            <a:pPr marL="0" indent="0" algn="l">
              <a:lnSpc>
                <a:spcPct val="119118"/>
              </a:lnSpc>
              <a:buNone/>
            </a:pPr>
            <a:r>
              <a:rPr lang="en-US" sz="2250" dirty="0">
                <a:solidFill>
                  <a:srgbClr val="201E1D"/>
                </a:solidFill>
                <a:latin typeface="Arial" pitchFamily="34" charset="0"/>
                <a:ea typeface="Arial" pitchFamily="34" charset="-122"/>
                <a:cs typeface="Arial" pitchFamily="34" charset="-120"/>
              </a:rPr>
              <a:t>Confidence Transparency — Design a visible low-confidence warning based on probability, vocabulary coverage, and prompt length.</a:t>
            </a:r>
            <a:endParaRPr lang="en-US" sz="2250" dirty="0"/>
          </a:p>
        </p:txBody>
      </p:sp>
      <p:sp>
        <p:nvSpPr>
          <p:cNvPr id="20" name="Text 18"/>
          <p:cNvSpPr/>
          <p:nvPr/>
        </p:nvSpPr>
        <p:spPr>
          <a:xfrm>
            <a:off x="1047750" y="9572625"/>
            <a:ext cx="566243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AI WEBSITE BUILDER</a:t>
            </a:r>
            <a:endParaRPr lang="en-US" sz="1500" dirty="0"/>
          </a:p>
        </p:txBody>
      </p:sp>
      <p:sp>
        <p:nvSpPr>
          <p:cNvPr id="21" name="Text 19"/>
          <p:cNvSpPr/>
          <p:nvPr/>
        </p:nvSpPr>
        <p:spPr>
          <a:xfrm>
            <a:off x="17000786" y="9572625"/>
            <a:ext cx="31566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04</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kern="0" spc="180" dirty="0">
                <a:solidFill>
                  <a:srgbClr val="EC3013"/>
                </a:solidFill>
                <a:latin typeface="Arial" pitchFamily="34" charset="0"/>
                <a:ea typeface="Arial" pitchFamily="34" charset="-122"/>
                <a:cs typeface="Arial" pitchFamily="34" charset="-120"/>
              </a:rPr>
              <a:t>04 · LITERATURE SURVEY</a:t>
            </a:r>
            <a:endParaRPr lang="en-US" sz="1800" dirty="0"/>
          </a:p>
        </p:txBody>
      </p:sp>
      <p:sp>
        <p:nvSpPr>
          <p:cNvPr id="3" name="Shape 1"/>
          <p:cNvSpPr/>
          <p:nvPr/>
        </p:nvSpPr>
        <p:spPr>
          <a:xfrm>
            <a:off x="1047750" y="1440061"/>
            <a:ext cx="16192500" cy="19050"/>
          </a:xfrm>
          <a:prstGeom prst="rect">
            <a:avLst/>
          </a:prstGeom>
          <a:solidFill>
            <a:srgbClr val="201E1E">
              <a:alpha val="40000"/>
            </a:srgbClr>
          </a:solidFill>
          <a:ln/>
        </p:spPr>
        <p:txBody>
          <a:bodyPr/>
          <a:lstStyle/>
          <a:p>
            <a:endParaRPr lang="en-US"/>
          </a:p>
        </p:txBody>
      </p:sp>
      <p:sp>
        <p:nvSpPr>
          <p:cNvPr id="4" name="Text 2"/>
          <p:cNvSpPr/>
          <p:nvPr/>
        </p:nvSpPr>
        <p:spPr>
          <a:xfrm>
            <a:off x="1047750" y="1840111"/>
            <a:ext cx="17811750" cy="658118"/>
          </a:xfrm>
          <a:prstGeom prst="rect">
            <a:avLst/>
          </a:prstGeom>
          <a:noFill/>
          <a:ln/>
        </p:spPr>
        <p:txBody>
          <a:bodyPr wrap="square" lIns="25400" tIns="25400" rIns="25400" bIns="25400" rtlCol="0" anchor="t">
            <a:normAutofit/>
          </a:bodyPr>
          <a:lstStyle/>
          <a:p>
            <a:pPr marL="0" indent="0" algn="l">
              <a:lnSpc>
                <a:spcPct val="91690"/>
              </a:lnSpc>
              <a:buNone/>
            </a:pPr>
            <a:r>
              <a:rPr lang="en-US" sz="4650" b="1" kern="0" spc="-93" dirty="0">
                <a:solidFill>
                  <a:srgbClr val="201E1D"/>
                </a:solidFill>
                <a:latin typeface="Arial" pitchFamily="34" charset="0"/>
                <a:ea typeface="Arial" pitchFamily="34" charset="-122"/>
                <a:cs typeface="Arial" pitchFamily="34" charset="-120"/>
              </a:rPr>
              <a:t>Literature Survey</a:t>
            </a:r>
            <a:endParaRPr lang="en-US" sz="4650" dirty="0"/>
          </a:p>
        </p:txBody>
      </p:sp>
      <p:sp>
        <p:nvSpPr>
          <p:cNvPr id="5" name="Shape 3"/>
          <p:cNvSpPr/>
          <p:nvPr/>
        </p:nvSpPr>
        <p:spPr>
          <a:xfrm>
            <a:off x="1047750" y="2955429"/>
            <a:ext cx="6461075" cy="2644080"/>
          </a:xfrm>
          <a:prstGeom prst="rect">
            <a:avLst/>
          </a:prstGeom>
          <a:solidFill>
            <a:srgbClr val="EC3013"/>
          </a:solidFill>
          <a:ln/>
        </p:spPr>
        <p:txBody>
          <a:bodyPr/>
          <a:lstStyle/>
          <a:p>
            <a:endParaRPr lang="en-US"/>
          </a:p>
        </p:txBody>
      </p:sp>
      <p:sp>
        <p:nvSpPr>
          <p:cNvPr id="6" name="Text 4"/>
          <p:cNvSpPr/>
          <p:nvPr/>
        </p:nvSpPr>
        <p:spPr>
          <a:xfrm>
            <a:off x="1428750" y="3374529"/>
            <a:ext cx="6268983"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kern="0" spc="165" dirty="0">
                <a:solidFill>
                  <a:srgbClr val="FFFFFF">
                    <a:alpha val="85000"/>
                  </a:srgbClr>
                </a:solidFill>
                <a:latin typeface="Arial" pitchFamily="34" charset="0"/>
                <a:ea typeface="Arial" pitchFamily="34" charset="-122"/>
                <a:cs typeface="Arial" pitchFamily="34" charset="-120"/>
              </a:rPr>
              <a:t>BASE RESEARCH PAPER</a:t>
            </a:r>
            <a:endParaRPr lang="en-US" sz="1650" dirty="0"/>
          </a:p>
        </p:txBody>
      </p:sp>
      <p:sp>
        <p:nvSpPr>
          <p:cNvPr id="7" name="Text 5"/>
          <p:cNvSpPr/>
          <p:nvPr/>
        </p:nvSpPr>
        <p:spPr>
          <a:xfrm>
            <a:off x="1428750" y="3965972"/>
            <a:ext cx="5870048" cy="1252538"/>
          </a:xfrm>
          <a:prstGeom prst="rect">
            <a:avLst/>
          </a:prstGeom>
          <a:noFill/>
          <a:ln/>
        </p:spPr>
        <p:txBody>
          <a:bodyPr wrap="square" lIns="25400" tIns="25400" rIns="25400" bIns="25400" rtlCol="0" anchor="t">
            <a:normAutofit/>
          </a:bodyPr>
          <a:lstStyle/>
          <a:p>
            <a:pPr marL="0" indent="0" algn="l">
              <a:lnSpc>
                <a:spcPct val="108974"/>
              </a:lnSpc>
              <a:buNone/>
            </a:pPr>
            <a:r>
              <a:rPr lang="en-US" sz="2550" b="1" kern="0" spc="-25" dirty="0">
                <a:solidFill>
                  <a:srgbClr val="FFFFFF"/>
                </a:solidFill>
                <a:latin typeface="Arial" pitchFamily="34" charset="0"/>
                <a:ea typeface="Arial" pitchFamily="34" charset="-122"/>
                <a:cs typeface="Arial" pitchFamily="34" charset="-120"/>
              </a:rPr>
              <a:t>"AI Website Builder"</a:t>
            </a:r>
            <a:endParaRPr lang="en-US" sz="2550" dirty="0"/>
          </a:p>
        </p:txBody>
      </p:sp>
      <p:sp>
        <p:nvSpPr>
          <p:cNvPr id="8" name="Text 6"/>
          <p:cNvSpPr/>
          <p:nvPr/>
        </p:nvSpPr>
        <p:spPr>
          <a:xfrm>
            <a:off x="8194625" y="2955429"/>
            <a:ext cx="9950187" cy="599033"/>
          </a:xfrm>
          <a:prstGeom prst="rect">
            <a:avLst/>
          </a:prstGeom>
          <a:noFill/>
          <a:ln/>
        </p:spPr>
        <p:txBody>
          <a:bodyPr wrap="square" lIns="25400" tIns="25400" rIns="25400" bIns="25400" rtlCol="0" anchor="t">
            <a:normAutofit/>
          </a:bodyPr>
          <a:lstStyle/>
          <a:p>
            <a:pPr marL="0" indent="0" algn="l">
              <a:lnSpc>
                <a:spcPct val="136977"/>
              </a:lnSpc>
              <a:buNone/>
            </a:pPr>
            <a:r>
              <a:rPr lang="en-US" sz="2850" b="1" dirty="0">
                <a:solidFill>
                  <a:srgbClr val="201E1D"/>
                </a:solidFill>
                <a:latin typeface="Arial" pitchFamily="34" charset="0"/>
                <a:ea typeface="Arial" pitchFamily="34" charset="-122"/>
                <a:cs typeface="Arial" pitchFamily="34" charset="-120"/>
              </a:rPr>
              <a:t>Key Findings from the Paper</a:t>
            </a:r>
            <a:endParaRPr lang="en-US" sz="2850" dirty="0"/>
          </a:p>
        </p:txBody>
      </p:sp>
      <p:sp>
        <p:nvSpPr>
          <p:cNvPr id="9" name="Text 7"/>
          <p:cNvSpPr/>
          <p:nvPr/>
        </p:nvSpPr>
        <p:spPr>
          <a:xfrm>
            <a:off x="8194625" y="3687812"/>
            <a:ext cx="9316993" cy="1509713"/>
          </a:xfrm>
          <a:prstGeom prst="rect">
            <a:avLst/>
          </a:prstGeom>
          <a:noFill/>
          <a:ln/>
        </p:spPr>
        <p:txBody>
          <a:bodyPr wrap="square" lIns="25400" tIns="25400" rIns="25400" bIns="25400" rtlCol="0" anchor="t">
            <a:normAutofit fontScale="85000" lnSpcReduction="9000"/>
          </a:bodyPr>
          <a:lstStyle/>
          <a:p>
            <a:pPr marL="0" indent="0" algn="l">
              <a:lnSpc>
                <a:spcPct val="127941"/>
              </a:lnSpc>
              <a:buNone/>
            </a:pPr>
            <a:r>
              <a:rPr lang="en-US" sz="2250" dirty="0">
                <a:solidFill>
                  <a:srgbClr val="201E1D"/>
                </a:solidFill>
                <a:latin typeface="Arial" pitchFamily="34" charset="0"/>
                <a:ea typeface="Arial" pitchFamily="34" charset="-122"/>
                <a:cs typeface="Arial" pitchFamily="34" charset="-120"/>
              </a:rPr>
              <a:t>The base paper proposes interpreting free-text requirements with transformer NLP (spaCy/Hugging Face), generating layouts with generative design models, and optimizing content placement via reinforcement learning, deployed as a containerized Flask/Django service on Vercel.</a:t>
            </a:r>
            <a:endParaRPr lang="en-US" sz="2250" dirty="0"/>
          </a:p>
        </p:txBody>
      </p:sp>
      <p:sp>
        <p:nvSpPr>
          <p:cNvPr id="10" name="Shape 8"/>
          <p:cNvSpPr/>
          <p:nvPr/>
        </p:nvSpPr>
        <p:spPr>
          <a:xfrm>
            <a:off x="8194625" y="5349925"/>
            <a:ext cx="9045625" cy="19050"/>
          </a:xfrm>
          <a:prstGeom prst="rect">
            <a:avLst/>
          </a:prstGeom>
          <a:solidFill>
            <a:srgbClr val="201E1E">
              <a:alpha val="40000"/>
            </a:srgbClr>
          </a:solidFill>
          <a:ln/>
        </p:spPr>
        <p:txBody>
          <a:bodyPr/>
          <a:lstStyle/>
          <a:p>
            <a:endParaRPr lang="en-US"/>
          </a:p>
        </p:txBody>
      </p:sp>
      <p:sp>
        <p:nvSpPr>
          <p:cNvPr id="11" name="Text 9"/>
          <p:cNvSpPr/>
          <p:nvPr/>
        </p:nvSpPr>
        <p:spPr>
          <a:xfrm>
            <a:off x="8194625" y="5711875"/>
            <a:ext cx="9950187" cy="599033"/>
          </a:xfrm>
          <a:prstGeom prst="rect">
            <a:avLst/>
          </a:prstGeom>
          <a:noFill/>
          <a:ln/>
        </p:spPr>
        <p:txBody>
          <a:bodyPr wrap="square" lIns="25400" tIns="25400" rIns="25400" bIns="25400" rtlCol="0" anchor="t">
            <a:normAutofit/>
          </a:bodyPr>
          <a:lstStyle/>
          <a:p>
            <a:pPr marL="0" indent="0" algn="l">
              <a:lnSpc>
                <a:spcPct val="136977"/>
              </a:lnSpc>
              <a:buNone/>
            </a:pPr>
            <a:r>
              <a:rPr lang="en-US" sz="2850" b="1" dirty="0">
                <a:solidFill>
                  <a:srgbClr val="201E1D"/>
                </a:solidFill>
                <a:latin typeface="Arial" pitchFamily="34" charset="0"/>
                <a:ea typeface="Arial" pitchFamily="34" charset="-122"/>
                <a:cs typeface="Arial" pitchFamily="34" charset="-120"/>
              </a:rPr>
              <a:t>Research Gap Identified</a:t>
            </a:r>
            <a:endParaRPr lang="en-US" sz="2850" dirty="0"/>
          </a:p>
        </p:txBody>
      </p:sp>
      <p:sp>
        <p:nvSpPr>
          <p:cNvPr id="12" name="Text 10"/>
          <p:cNvSpPr/>
          <p:nvPr/>
        </p:nvSpPr>
        <p:spPr>
          <a:xfrm>
            <a:off x="8194625" y="6444258"/>
            <a:ext cx="9316993" cy="2061210"/>
          </a:xfrm>
          <a:prstGeom prst="rect">
            <a:avLst/>
          </a:prstGeom>
          <a:noFill/>
          <a:ln/>
        </p:spPr>
        <p:txBody>
          <a:bodyPr wrap="square" lIns="25400" tIns="25400" rIns="25400" bIns="25400" rtlCol="0" anchor="t">
            <a:normAutofit/>
          </a:bodyPr>
          <a:lstStyle/>
          <a:p>
            <a:pPr marL="0" indent="0" algn="l">
              <a:lnSpc>
                <a:spcPct val="127941"/>
              </a:lnSpc>
              <a:buNone/>
            </a:pPr>
            <a:r>
              <a:rPr lang="en-US" sz="2250" dirty="0">
                <a:solidFill>
                  <a:srgbClr val="201E1D"/>
                </a:solidFill>
                <a:latin typeface="Arial" pitchFamily="34" charset="0"/>
                <a:ea typeface="Arial" pitchFamily="34" charset="-122"/>
                <a:cs typeface="Arial" pitchFamily="34" charset="-120"/>
              </a:rPr>
              <a:t>Transformer fine-tuning and RL layout optimization need GPUs and labelled datasets a student team doesn't have; this project substitutes lightweight scikit-learn classifiers and rule-based templates that train in seconds and run fully offline on a laptop.</a:t>
            </a:r>
            <a:endParaRPr lang="en-US" sz="2250" dirty="0"/>
          </a:p>
        </p:txBody>
      </p:sp>
      <p:sp>
        <p:nvSpPr>
          <p:cNvPr id="13" name="Text 11"/>
          <p:cNvSpPr/>
          <p:nvPr/>
        </p:nvSpPr>
        <p:spPr>
          <a:xfrm>
            <a:off x="1047750" y="9572625"/>
            <a:ext cx="566243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AI WEBSITE BUILDER</a:t>
            </a:r>
            <a:endParaRPr lang="en-US" sz="1500" dirty="0"/>
          </a:p>
        </p:txBody>
      </p:sp>
      <p:sp>
        <p:nvSpPr>
          <p:cNvPr id="14" name="Text 12"/>
          <p:cNvSpPr/>
          <p:nvPr/>
        </p:nvSpPr>
        <p:spPr>
          <a:xfrm>
            <a:off x="17000786" y="9572625"/>
            <a:ext cx="31566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05</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kern="0" spc="180" dirty="0">
                <a:solidFill>
                  <a:srgbClr val="EC3013"/>
                </a:solidFill>
                <a:latin typeface="Arial" pitchFamily="34" charset="0"/>
                <a:ea typeface="Arial" pitchFamily="34" charset="-122"/>
                <a:cs typeface="Arial" pitchFamily="34" charset="-120"/>
              </a:rPr>
              <a:t>05 · COMPARISON</a:t>
            </a:r>
            <a:endParaRPr lang="en-US" sz="1800" dirty="0"/>
          </a:p>
        </p:txBody>
      </p:sp>
      <p:sp>
        <p:nvSpPr>
          <p:cNvPr id="3" name="Shape 1"/>
          <p:cNvSpPr/>
          <p:nvPr/>
        </p:nvSpPr>
        <p:spPr>
          <a:xfrm>
            <a:off x="1047750" y="1440061"/>
            <a:ext cx="16192500" cy="19050"/>
          </a:xfrm>
          <a:prstGeom prst="rect">
            <a:avLst/>
          </a:prstGeom>
          <a:solidFill>
            <a:srgbClr val="201E1E">
              <a:alpha val="40000"/>
            </a:srgbClr>
          </a:solidFill>
          <a:ln/>
        </p:spPr>
        <p:txBody>
          <a:bodyPr/>
          <a:lstStyle/>
          <a:p>
            <a:endParaRPr lang="en-US"/>
          </a:p>
        </p:txBody>
      </p:sp>
      <p:sp>
        <p:nvSpPr>
          <p:cNvPr id="4" name="Text 2"/>
          <p:cNvSpPr/>
          <p:nvPr/>
        </p:nvSpPr>
        <p:spPr>
          <a:xfrm>
            <a:off x="1047750" y="1840111"/>
            <a:ext cx="17811750" cy="658118"/>
          </a:xfrm>
          <a:prstGeom prst="rect">
            <a:avLst/>
          </a:prstGeom>
          <a:noFill/>
          <a:ln/>
        </p:spPr>
        <p:txBody>
          <a:bodyPr wrap="square" lIns="25400" tIns="25400" rIns="25400" bIns="25400" rtlCol="0" anchor="t">
            <a:normAutofit/>
          </a:bodyPr>
          <a:lstStyle/>
          <a:p>
            <a:pPr marL="0" indent="0" algn="l">
              <a:lnSpc>
                <a:spcPct val="91690"/>
              </a:lnSpc>
              <a:buNone/>
            </a:pPr>
            <a:r>
              <a:rPr lang="en-US" sz="4650" b="1" kern="0" spc="-93" dirty="0">
                <a:solidFill>
                  <a:srgbClr val="201E1D"/>
                </a:solidFill>
                <a:latin typeface="Arial" pitchFamily="34" charset="0"/>
                <a:ea typeface="Arial" pitchFamily="34" charset="-122"/>
                <a:cs typeface="Arial" pitchFamily="34" charset="-120"/>
              </a:rPr>
              <a:t>Research Paper vs. Proposed System</a:t>
            </a:r>
            <a:endParaRPr lang="en-US" sz="4650" dirty="0"/>
          </a:p>
        </p:txBody>
      </p:sp>
      <p:sp>
        <p:nvSpPr>
          <p:cNvPr id="5" name="Shape 3"/>
          <p:cNvSpPr/>
          <p:nvPr/>
        </p:nvSpPr>
        <p:spPr>
          <a:xfrm>
            <a:off x="1047750" y="3537347"/>
            <a:ext cx="6800850" cy="19050"/>
          </a:xfrm>
          <a:prstGeom prst="rect">
            <a:avLst/>
          </a:prstGeom>
          <a:solidFill>
            <a:srgbClr val="201E1E">
              <a:alpha val="40000"/>
            </a:srgbClr>
          </a:solidFill>
          <a:ln/>
        </p:spPr>
        <p:txBody>
          <a:bodyPr/>
          <a:lstStyle/>
          <a:p>
            <a:endParaRPr lang="en-US"/>
          </a:p>
        </p:txBody>
      </p:sp>
      <p:sp>
        <p:nvSpPr>
          <p:cNvPr id="6" name="Text 4"/>
          <p:cNvSpPr/>
          <p:nvPr/>
        </p:nvSpPr>
        <p:spPr>
          <a:xfrm>
            <a:off x="1047750" y="3050679"/>
            <a:ext cx="6738175" cy="353318"/>
          </a:xfrm>
          <a:prstGeom prst="rect">
            <a:avLst/>
          </a:prstGeom>
          <a:noFill/>
          <a:ln/>
        </p:spPr>
        <p:txBody>
          <a:bodyPr wrap="square" lIns="25400" tIns="25400" rIns="25400" bIns="25400" rtlCol="0" anchor="ctr">
            <a:normAutofit/>
          </a:bodyPr>
          <a:lstStyle/>
          <a:p>
            <a:pPr marL="0" indent="0" algn="l">
              <a:lnSpc>
                <a:spcPct val="131154"/>
              </a:lnSpc>
              <a:buNone/>
            </a:pPr>
            <a:r>
              <a:rPr lang="en-US" sz="1650" b="1" kern="0" spc="165" dirty="0">
                <a:solidFill>
                  <a:srgbClr val="201E1C">
                    <a:alpha val="60000"/>
                  </a:srgbClr>
                </a:solidFill>
                <a:latin typeface="Arial" pitchFamily="34" charset="0"/>
                <a:ea typeface="Arial" pitchFamily="34" charset="-122"/>
                <a:cs typeface="Arial" pitchFamily="34" charset="-120"/>
              </a:rPr>
              <a:t>RESEARCH PAPER</a:t>
            </a:r>
            <a:endParaRPr lang="en-US" sz="1650" dirty="0"/>
          </a:p>
        </p:txBody>
      </p:sp>
      <p:sp>
        <p:nvSpPr>
          <p:cNvPr id="7" name="Shape 5"/>
          <p:cNvSpPr/>
          <p:nvPr/>
        </p:nvSpPr>
        <p:spPr>
          <a:xfrm>
            <a:off x="7848600" y="3537347"/>
            <a:ext cx="9391650" cy="19050"/>
          </a:xfrm>
          <a:prstGeom prst="rect">
            <a:avLst/>
          </a:prstGeom>
          <a:solidFill>
            <a:srgbClr val="201E1E">
              <a:alpha val="40000"/>
            </a:srgbClr>
          </a:solidFill>
          <a:ln/>
        </p:spPr>
        <p:txBody>
          <a:bodyPr/>
          <a:lstStyle/>
          <a:p>
            <a:endParaRPr lang="en-US"/>
          </a:p>
        </p:txBody>
      </p:sp>
      <p:sp>
        <p:nvSpPr>
          <p:cNvPr id="8" name="Text 6"/>
          <p:cNvSpPr/>
          <p:nvPr/>
        </p:nvSpPr>
        <p:spPr>
          <a:xfrm>
            <a:off x="8115300" y="3050679"/>
            <a:ext cx="9406700" cy="353318"/>
          </a:xfrm>
          <a:prstGeom prst="rect">
            <a:avLst/>
          </a:prstGeom>
          <a:noFill/>
          <a:ln/>
        </p:spPr>
        <p:txBody>
          <a:bodyPr wrap="square" lIns="25400" tIns="25400" rIns="25400" bIns="25400" rtlCol="0" anchor="ctr">
            <a:normAutofit/>
          </a:bodyPr>
          <a:lstStyle/>
          <a:p>
            <a:pPr marL="0" indent="0" algn="l">
              <a:lnSpc>
                <a:spcPct val="131154"/>
              </a:lnSpc>
              <a:buNone/>
            </a:pPr>
            <a:r>
              <a:rPr lang="en-US" sz="1650" b="1" kern="0" spc="165" dirty="0">
                <a:solidFill>
                  <a:srgbClr val="EC3013"/>
                </a:solidFill>
                <a:latin typeface="Arial" pitchFamily="34" charset="0"/>
                <a:ea typeface="Arial" pitchFamily="34" charset="-122"/>
                <a:cs typeface="Arial" pitchFamily="34" charset="-120"/>
              </a:rPr>
              <a:t>YOUR APPLICATION</a:t>
            </a:r>
            <a:endParaRPr lang="en-US" sz="1650" dirty="0"/>
          </a:p>
        </p:txBody>
      </p:sp>
      <p:sp>
        <p:nvSpPr>
          <p:cNvPr id="9" name="Shape 7"/>
          <p:cNvSpPr/>
          <p:nvPr/>
        </p:nvSpPr>
        <p:spPr>
          <a:xfrm>
            <a:off x="1047750" y="4301728"/>
            <a:ext cx="6800850" cy="9525"/>
          </a:xfrm>
          <a:prstGeom prst="rect">
            <a:avLst/>
          </a:prstGeom>
          <a:solidFill>
            <a:srgbClr val="201E1E">
              <a:alpha val="40000"/>
            </a:srgbClr>
          </a:solidFill>
          <a:ln/>
        </p:spPr>
        <p:txBody>
          <a:bodyPr/>
          <a:lstStyle/>
          <a:p>
            <a:endParaRPr lang="en-US"/>
          </a:p>
        </p:txBody>
      </p:sp>
      <p:sp>
        <p:nvSpPr>
          <p:cNvPr id="10" name="Text 8"/>
          <p:cNvSpPr/>
          <p:nvPr/>
        </p:nvSpPr>
        <p:spPr>
          <a:xfrm>
            <a:off x="1047750" y="3765947"/>
            <a:ext cx="6738175" cy="364331"/>
          </a:xfrm>
          <a:prstGeom prst="rect">
            <a:avLst/>
          </a:prstGeom>
          <a:noFill/>
          <a:ln/>
        </p:spPr>
        <p:txBody>
          <a:bodyPr wrap="square" lIns="25400" tIns="25400" rIns="25400" bIns="25400" rtlCol="0" anchor="t">
            <a:normAutofit fontScale="85000" lnSpcReduction="9000"/>
          </a:bodyPr>
          <a:lstStyle/>
          <a:p>
            <a:pPr marL="0" indent="0" algn="l">
              <a:lnSpc>
                <a:spcPct val="116379"/>
              </a:lnSpc>
              <a:buNone/>
            </a:pPr>
            <a:r>
              <a:rPr lang="en-US" sz="1800" dirty="0">
                <a:solidFill>
                  <a:srgbClr val="605D5D"/>
                </a:solidFill>
                <a:latin typeface="Arial" pitchFamily="34" charset="0"/>
                <a:ea typeface="Arial" pitchFamily="34" charset="-122"/>
                <a:cs typeface="Arial" pitchFamily="34" charset="-120"/>
              </a:rPr>
              <a:t>Transformer NLP (spaCy/Hugging Face) for prompt interpretation</a:t>
            </a:r>
            <a:endParaRPr lang="en-US" sz="1875" dirty="0"/>
          </a:p>
        </p:txBody>
      </p:sp>
      <p:sp>
        <p:nvSpPr>
          <p:cNvPr id="11" name="Shape 9"/>
          <p:cNvSpPr/>
          <p:nvPr/>
        </p:nvSpPr>
        <p:spPr>
          <a:xfrm>
            <a:off x="7848600" y="4301728"/>
            <a:ext cx="9391650" cy="9525"/>
          </a:xfrm>
          <a:prstGeom prst="rect">
            <a:avLst/>
          </a:prstGeom>
          <a:solidFill>
            <a:srgbClr val="201E1E">
              <a:alpha val="40000"/>
            </a:srgbClr>
          </a:solidFill>
          <a:ln/>
        </p:spPr>
        <p:txBody>
          <a:bodyPr/>
          <a:lstStyle/>
          <a:p>
            <a:endParaRPr lang="en-US"/>
          </a:p>
        </p:txBody>
      </p:sp>
      <p:sp>
        <p:nvSpPr>
          <p:cNvPr id="12" name="Text 10"/>
          <p:cNvSpPr/>
          <p:nvPr/>
        </p:nvSpPr>
        <p:spPr>
          <a:xfrm>
            <a:off x="8115300" y="3765947"/>
            <a:ext cx="9406700" cy="364331"/>
          </a:xfrm>
          <a:prstGeom prst="rect">
            <a:avLst/>
          </a:prstGeom>
          <a:noFill/>
          <a:ln/>
        </p:spPr>
        <p:txBody>
          <a:bodyPr wrap="square" lIns="25400" tIns="25400" rIns="25400" bIns="25400" rtlCol="0" anchor="t">
            <a:normAutofit fontScale="85000" lnSpcReduction="9000"/>
          </a:bodyPr>
          <a:lstStyle/>
          <a:p>
            <a:pPr marL="0" indent="0" algn="l">
              <a:lnSpc>
                <a:spcPct val="116379"/>
              </a:lnSpc>
              <a:buNone/>
            </a:pPr>
            <a:r>
              <a:rPr lang="en-US" sz="2075" dirty="0">
                <a:solidFill>
                  <a:srgbClr val="201E1D"/>
                </a:solidFill>
                <a:latin typeface="Arial" pitchFamily="34" charset="0"/>
                <a:ea typeface="Arial" pitchFamily="34" charset="-122"/>
                <a:cs typeface="Arial" pitchFamily="34" charset="-120"/>
              </a:rPr>
              <a:t>TF-IDF + logistic regression classifiers trained in seconds on a laptop CPU</a:t>
            </a:r>
            <a:endParaRPr lang="en-US" sz="1875" dirty="0"/>
          </a:p>
        </p:txBody>
      </p:sp>
      <p:sp>
        <p:nvSpPr>
          <p:cNvPr id="13" name="Shape 11"/>
          <p:cNvSpPr/>
          <p:nvPr/>
        </p:nvSpPr>
        <p:spPr>
          <a:xfrm>
            <a:off x="1047750" y="5051822"/>
            <a:ext cx="6800850" cy="9525"/>
          </a:xfrm>
          <a:prstGeom prst="rect">
            <a:avLst/>
          </a:prstGeom>
          <a:solidFill>
            <a:srgbClr val="201E1E">
              <a:alpha val="40000"/>
            </a:srgbClr>
          </a:solidFill>
          <a:ln/>
        </p:spPr>
        <p:txBody>
          <a:bodyPr/>
          <a:lstStyle/>
          <a:p>
            <a:endParaRPr lang="en-US"/>
          </a:p>
        </p:txBody>
      </p:sp>
      <p:sp>
        <p:nvSpPr>
          <p:cNvPr id="14" name="Text 12"/>
          <p:cNvSpPr/>
          <p:nvPr/>
        </p:nvSpPr>
        <p:spPr>
          <a:xfrm>
            <a:off x="1047750" y="4520803"/>
            <a:ext cx="6738175" cy="359569"/>
          </a:xfrm>
          <a:prstGeom prst="rect">
            <a:avLst/>
          </a:prstGeom>
          <a:noFill/>
          <a:ln/>
        </p:spPr>
        <p:txBody>
          <a:bodyPr wrap="square" lIns="25400" tIns="25400" rIns="25400" bIns="25400" rtlCol="0" anchor="t">
            <a:normAutofit fontScale="85000" lnSpcReduction="9000"/>
          </a:bodyPr>
          <a:lstStyle/>
          <a:p>
            <a:pPr marL="0" indent="0" algn="l">
              <a:lnSpc>
                <a:spcPct val="116379"/>
              </a:lnSpc>
              <a:buNone/>
            </a:pPr>
            <a:r>
              <a:rPr lang="en-US" sz="1800" dirty="0">
                <a:solidFill>
                  <a:srgbClr val="605D5D"/>
                </a:solidFill>
                <a:latin typeface="Arial" pitchFamily="34" charset="0"/>
                <a:ea typeface="Arial" pitchFamily="34" charset="-122"/>
                <a:cs typeface="Arial" pitchFamily="34" charset="-120"/>
              </a:rPr>
              <a:t>Generative design model for layout creation</a:t>
            </a:r>
            <a:endParaRPr lang="en-US" sz="1875" dirty="0"/>
          </a:p>
        </p:txBody>
      </p:sp>
      <p:sp>
        <p:nvSpPr>
          <p:cNvPr id="15" name="Shape 13"/>
          <p:cNvSpPr/>
          <p:nvPr/>
        </p:nvSpPr>
        <p:spPr>
          <a:xfrm>
            <a:off x="7848600" y="5051822"/>
            <a:ext cx="9391650" cy="9525"/>
          </a:xfrm>
          <a:prstGeom prst="rect">
            <a:avLst/>
          </a:prstGeom>
          <a:solidFill>
            <a:srgbClr val="201E1E">
              <a:alpha val="40000"/>
            </a:srgbClr>
          </a:solidFill>
          <a:ln/>
        </p:spPr>
        <p:txBody>
          <a:bodyPr/>
          <a:lstStyle/>
          <a:p>
            <a:endParaRPr lang="en-US"/>
          </a:p>
        </p:txBody>
      </p:sp>
      <p:sp>
        <p:nvSpPr>
          <p:cNvPr id="16" name="Text 14"/>
          <p:cNvSpPr/>
          <p:nvPr/>
        </p:nvSpPr>
        <p:spPr>
          <a:xfrm>
            <a:off x="8115300" y="4520803"/>
            <a:ext cx="9406700" cy="359569"/>
          </a:xfrm>
          <a:prstGeom prst="rect">
            <a:avLst/>
          </a:prstGeom>
          <a:noFill/>
          <a:ln/>
        </p:spPr>
        <p:txBody>
          <a:bodyPr wrap="square" lIns="25400" tIns="25400" rIns="25400" bIns="25400" rtlCol="0" anchor="t">
            <a:normAutofit fontScale="85000" lnSpcReduction="9000"/>
          </a:bodyPr>
          <a:lstStyle/>
          <a:p>
            <a:pPr marL="0" indent="0" algn="l">
              <a:lnSpc>
                <a:spcPct val="116379"/>
              </a:lnSpc>
              <a:buNone/>
            </a:pPr>
            <a:r>
              <a:rPr lang="en-US" sz="2075" dirty="0">
                <a:solidFill>
                  <a:srgbClr val="201E1D"/>
                </a:solidFill>
                <a:latin typeface="Arial" pitchFamily="34" charset="0"/>
                <a:ea typeface="Arial" pitchFamily="34" charset="-122"/>
                <a:cs typeface="Arial" pitchFamily="34" charset="-120"/>
              </a:rPr>
              <a:t>Fixed library of hand-written responsive templates chosen by simple rules</a:t>
            </a:r>
            <a:endParaRPr lang="en-US" sz="1875" dirty="0"/>
          </a:p>
        </p:txBody>
      </p:sp>
      <p:sp>
        <p:nvSpPr>
          <p:cNvPr id="17" name="Shape 15"/>
          <p:cNvSpPr/>
          <p:nvPr/>
        </p:nvSpPr>
        <p:spPr>
          <a:xfrm>
            <a:off x="1047750" y="5801916"/>
            <a:ext cx="6800850" cy="9525"/>
          </a:xfrm>
          <a:prstGeom prst="rect">
            <a:avLst/>
          </a:prstGeom>
          <a:solidFill>
            <a:srgbClr val="201E1E">
              <a:alpha val="40000"/>
            </a:srgbClr>
          </a:solidFill>
          <a:ln/>
        </p:spPr>
        <p:txBody>
          <a:bodyPr/>
          <a:lstStyle/>
          <a:p>
            <a:endParaRPr lang="en-US"/>
          </a:p>
        </p:txBody>
      </p:sp>
      <p:sp>
        <p:nvSpPr>
          <p:cNvPr id="18" name="Text 16"/>
          <p:cNvSpPr/>
          <p:nvPr/>
        </p:nvSpPr>
        <p:spPr>
          <a:xfrm>
            <a:off x="1047750" y="5270897"/>
            <a:ext cx="6738175" cy="359569"/>
          </a:xfrm>
          <a:prstGeom prst="rect">
            <a:avLst/>
          </a:prstGeom>
          <a:noFill/>
          <a:ln/>
        </p:spPr>
        <p:txBody>
          <a:bodyPr wrap="square" lIns="25400" tIns="25400" rIns="25400" bIns="25400" rtlCol="0" anchor="t">
            <a:normAutofit fontScale="85000" lnSpcReduction="9000"/>
          </a:bodyPr>
          <a:lstStyle/>
          <a:p>
            <a:pPr marL="0" indent="0" algn="l">
              <a:lnSpc>
                <a:spcPct val="116379"/>
              </a:lnSpc>
              <a:buNone/>
            </a:pPr>
            <a:r>
              <a:rPr lang="en-US" sz="1800" dirty="0">
                <a:solidFill>
                  <a:srgbClr val="605D5D"/>
                </a:solidFill>
                <a:latin typeface="Arial" pitchFamily="34" charset="0"/>
                <a:ea typeface="Arial" pitchFamily="34" charset="-122"/>
                <a:cs typeface="Arial" pitchFamily="34" charset="-120"/>
              </a:rPr>
              <a:t>Reinforcement learning to optimize content placement</a:t>
            </a:r>
            <a:endParaRPr lang="en-US" sz="1875" dirty="0"/>
          </a:p>
        </p:txBody>
      </p:sp>
      <p:sp>
        <p:nvSpPr>
          <p:cNvPr id="19" name="Shape 17"/>
          <p:cNvSpPr/>
          <p:nvPr/>
        </p:nvSpPr>
        <p:spPr>
          <a:xfrm>
            <a:off x="7848600" y="5801916"/>
            <a:ext cx="9391650" cy="9525"/>
          </a:xfrm>
          <a:prstGeom prst="rect">
            <a:avLst/>
          </a:prstGeom>
          <a:solidFill>
            <a:srgbClr val="201E1E">
              <a:alpha val="40000"/>
            </a:srgbClr>
          </a:solidFill>
          <a:ln/>
        </p:spPr>
        <p:txBody>
          <a:bodyPr/>
          <a:lstStyle/>
          <a:p>
            <a:endParaRPr lang="en-US"/>
          </a:p>
        </p:txBody>
      </p:sp>
      <p:sp>
        <p:nvSpPr>
          <p:cNvPr id="20" name="Text 18"/>
          <p:cNvSpPr/>
          <p:nvPr/>
        </p:nvSpPr>
        <p:spPr>
          <a:xfrm>
            <a:off x="8115300" y="5270897"/>
            <a:ext cx="9406700" cy="359569"/>
          </a:xfrm>
          <a:prstGeom prst="rect">
            <a:avLst/>
          </a:prstGeom>
          <a:noFill/>
          <a:ln/>
        </p:spPr>
        <p:txBody>
          <a:bodyPr wrap="square" lIns="25400" tIns="25400" rIns="25400" bIns="25400" rtlCol="0" anchor="t">
            <a:normAutofit fontScale="85000" lnSpcReduction="9000"/>
          </a:bodyPr>
          <a:lstStyle/>
          <a:p>
            <a:pPr marL="0" indent="0" algn="l">
              <a:lnSpc>
                <a:spcPct val="116379"/>
              </a:lnSpc>
              <a:buNone/>
            </a:pPr>
            <a:r>
              <a:rPr lang="en-US" sz="2075" dirty="0">
                <a:solidFill>
                  <a:srgbClr val="201E1D"/>
                </a:solidFill>
                <a:latin typeface="Arial" pitchFamily="34" charset="0"/>
                <a:ea typeface="Arial" pitchFamily="34" charset="-122"/>
                <a:cs typeface="Arial" pitchFamily="34" charset="-120"/>
              </a:rPr>
              <a:t>Deterministic per-type section ordering, fully explainable in a viva</a:t>
            </a:r>
            <a:endParaRPr lang="en-US" sz="1875" dirty="0"/>
          </a:p>
        </p:txBody>
      </p:sp>
      <p:sp>
        <p:nvSpPr>
          <p:cNvPr id="21" name="Shape 19"/>
          <p:cNvSpPr/>
          <p:nvPr/>
        </p:nvSpPr>
        <p:spPr>
          <a:xfrm>
            <a:off x="1047750" y="6552009"/>
            <a:ext cx="6800850" cy="9525"/>
          </a:xfrm>
          <a:prstGeom prst="rect">
            <a:avLst/>
          </a:prstGeom>
          <a:solidFill>
            <a:srgbClr val="201E1E">
              <a:alpha val="40000"/>
            </a:srgbClr>
          </a:solidFill>
          <a:ln/>
        </p:spPr>
        <p:txBody>
          <a:bodyPr/>
          <a:lstStyle/>
          <a:p>
            <a:endParaRPr lang="en-US"/>
          </a:p>
        </p:txBody>
      </p:sp>
      <p:sp>
        <p:nvSpPr>
          <p:cNvPr id="22" name="Text 20"/>
          <p:cNvSpPr/>
          <p:nvPr/>
        </p:nvSpPr>
        <p:spPr>
          <a:xfrm>
            <a:off x="1047750" y="6020991"/>
            <a:ext cx="6738175" cy="359569"/>
          </a:xfrm>
          <a:prstGeom prst="rect">
            <a:avLst/>
          </a:prstGeom>
          <a:noFill/>
          <a:ln/>
        </p:spPr>
        <p:txBody>
          <a:bodyPr wrap="square" lIns="25400" tIns="25400" rIns="25400" bIns="25400" rtlCol="0" anchor="t">
            <a:normAutofit fontScale="85000" lnSpcReduction="9000"/>
          </a:bodyPr>
          <a:lstStyle/>
          <a:p>
            <a:pPr marL="0" indent="0" algn="l">
              <a:lnSpc>
                <a:spcPct val="116379"/>
              </a:lnSpc>
              <a:buNone/>
            </a:pPr>
            <a:r>
              <a:rPr lang="en-US" sz="1800" dirty="0">
                <a:solidFill>
                  <a:srgbClr val="605D5D"/>
                </a:solidFill>
                <a:latin typeface="Arial" pitchFamily="34" charset="0"/>
                <a:ea typeface="Arial" pitchFamily="34" charset="-122"/>
                <a:cs typeface="Arial" pitchFamily="34" charset="-120"/>
              </a:rPr>
              <a:t>Containerized Flask/Django deployment on Vercel</a:t>
            </a:r>
            <a:endParaRPr lang="en-US" sz="1875" dirty="0"/>
          </a:p>
        </p:txBody>
      </p:sp>
      <p:sp>
        <p:nvSpPr>
          <p:cNvPr id="23" name="Shape 21"/>
          <p:cNvSpPr/>
          <p:nvPr/>
        </p:nvSpPr>
        <p:spPr>
          <a:xfrm>
            <a:off x="7848600" y="6552009"/>
            <a:ext cx="9391650" cy="9525"/>
          </a:xfrm>
          <a:prstGeom prst="rect">
            <a:avLst/>
          </a:prstGeom>
          <a:solidFill>
            <a:srgbClr val="201E1E">
              <a:alpha val="40000"/>
            </a:srgbClr>
          </a:solidFill>
          <a:ln/>
        </p:spPr>
        <p:txBody>
          <a:bodyPr/>
          <a:lstStyle/>
          <a:p>
            <a:endParaRPr lang="en-US"/>
          </a:p>
        </p:txBody>
      </p:sp>
      <p:sp>
        <p:nvSpPr>
          <p:cNvPr id="24" name="Text 22"/>
          <p:cNvSpPr/>
          <p:nvPr/>
        </p:nvSpPr>
        <p:spPr>
          <a:xfrm>
            <a:off x="8115300" y="6020991"/>
            <a:ext cx="9406700" cy="359569"/>
          </a:xfrm>
          <a:prstGeom prst="rect">
            <a:avLst/>
          </a:prstGeom>
          <a:noFill/>
          <a:ln/>
        </p:spPr>
        <p:txBody>
          <a:bodyPr wrap="square" lIns="25400" tIns="25400" rIns="25400" bIns="25400" rtlCol="0" anchor="t">
            <a:normAutofit fontScale="85000" lnSpcReduction="9000"/>
          </a:bodyPr>
          <a:lstStyle/>
          <a:p>
            <a:pPr marL="0" indent="0" algn="l">
              <a:lnSpc>
                <a:spcPct val="116379"/>
              </a:lnSpc>
              <a:buNone/>
            </a:pPr>
            <a:r>
              <a:rPr lang="en-US" sz="2075" dirty="0">
                <a:solidFill>
                  <a:srgbClr val="201E1D"/>
                </a:solidFill>
                <a:latin typeface="Arial" pitchFamily="34" charset="0"/>
                <a:ea typeface="Arial" pitchFamily="34" charset="-122"/>
                <a:cs typeface="Arial" pitchFamily="34" charset="-120"/>
              </a:rPr>
              <a:t>Single local Flask app with SQLite storage, no cloud hosting required</a:t>
            </a:r>
            <a:endParaRPr lang="en-US" sz="1875" dirty="0"/>
          </a:p>
        </p:txBody>
      </p:sp>
      <p:sp>
        <p:nvSpPr>
          <p:cNvPr id="25" name="Shape 23"/>
          <p:cNvSpPr/>
          <p:nvPr/>
        </p:nvSpPr>
        <p:spPr>
          <a:xfrm>
            <a:off x="1047750" y="7302103"/>
            <a:ext cx="6800850" cy="9525"/>
          </a:xfrm>
          <a:prstGeom prst="rect">
            <a:avLst/>
          </a:prstGeom>
          <a:solidFill>
            <a:srgbClr val="201E1E">
              <a:alpha val="40000"/>
            </a:srgbClr>
          </a:solidFill>
          <a:ln/>
        </p:spPr>
        <p:txBody>
          <a:bodyPr/>
          <a:lstStyle/>
          <a:p>
            <a:endParaRPr lang="en-US"/>
          </a:p>
        </p:txBody>
      </p:sp>
      <p:sp>
        <p:nvSpPr>
          <p:cNvPr id="26" name="Text 24"/>
          <p:cNvSpPr/>
          <p:nvPr/>
        </p:nvSpPr>
        <p:spPr>
          <a:xfrm>
            <a:off x="1047750" y="6771084"/>
            <a:ext cx="6738175" cy="359569"/>
          </a:xfrm>
          <a:prstGeom prst="rect">
            <a:avLst/>
          </a:prstGeom>
          <a:noFill/>
          <a:ln/>
        </p:spPr>
        <p:txBody>
          <a:bodyPr wrap="square" lIns="25400" tIns="25400" rIns="25400" bIns="25400" rtlCol="0" anchor="t">
            <a:normAutofit fontScale="85000" lnSpcReduction="9000"/>
          </a:bodyPr>
          <a:lstStyle/>
          <a:p>
            <a:pPr marL="0" indent="0" algn="l">
              <a:lnSpc>
                <a:spcPct val="116379"/>
              </a:lnSpc>
              <a:buNone/>
            </a:pPr>
            <a:r>
              <a:rPr lang="en-US" sz="1800" dirty="0">
                <a:solidFill>
                  <a:srgbClr val="605D5D"/>
                </a:solidFill>
                <a:latin typeface="Arial" pitchFamily="34" charset="0"/>
                <a:ea typeface="Arial" pitchFamily="34" charset="-122"/>
                <a:cs typeface="Arial" pitchFamily="34" charset="-120"/>
              </a:rPr>
              <a:t>No stated reliability signal for generated predictions</a:t>
            </a:r>
            <a:endParaRPr lang="en-US" sz="1875" dirty="0"/>
          </a:p>
        </p:txBody>
      </p:sp>
      <p:sp>
        <p:nvSpPr>
          <p:cNvPr id="27" name="Shape 25"/>
          <p:cNvSpPr/>
          <p:nvPr/>
        </p:nvSpPr>
        <p:spPr>
          <a:xfrm>
            <a:off x="7848600" y="7302103"/>
            <a:ext cx="9391650" cy="9525"/>
          </a:xfrm>
          <a:prstGeom prst="rect">
            <a:avLst/>
          </a:prstGeom>
          <a:solidFill>
            <a:srgbClr val="201E1E">
              <a:alpha val="40000"/>
            </a:srgbClr>
          </a:solidFill>
          <a:ln/>
        </p:spPr>
        <p:txBody>
          <a:bodyPr/>
          <a:lstStyle/>
          <a:p>
            <a:endParaRPr lang="en-US"/>
          </a:p>
        </p:txBody>
      </p:sp>
      <p:sp>
        <p:nvSpPr>
          <p:cNvPr id="28" name="Text 26"/>
          <p:cNvSpPr/>
          <p:nvPr/>
        </p:nvSpPr>
        <p:spPr>
          <a:xfrm>
            <a:off x="8115300" y="6771084"/>
            <a:ext cx="9406700" cy="359569"/>
          </a:xfrm>
          <a:prstGeom prst="rect">
            <a:avLst/>
          </a:prstGeom>
          <a:noFill/>
          <a:ln/>
        </p:spPr>
        <p:txBody>
          <a:bodyPr wrap="square" lIns="25400" tIns="25400" rIns="25400" bIns="25400" rtlCol="0" anchor="t">
            <a:normAutofit fontScale="85000" lnSpcReduction="9000"/>
          </a:bodyPr>
          <a:lstStyle/>
          <a:p>
            <a:pPr marL="0" indent="0" algn="l">
              <a:lnSpc>
                <a:spcPct val="116379"/>
              </a:lnSpc>
              <a:buNone/>
            </a:pPr>
            <a:r>
              <a:rPr lang="en-US" sz="2075" dirty="0">
                <a:solidFill>
                  <a:srgbClr val="201E1D"/>
                </a:solidFill>
                <a:latin typeface="Arial" pitchFamily="34" charset="0"/>
                <a:ea typeface="Arial" pitchFamily="34" charset="-122"/>
                <a:cs typeface="Arial" pitchFamily="34" charset="-120"/>
              </a:rPr>
              <a:t>Explicit low-confidence warning based on probability, vocabulary coverage, and prompt length</a:t>
            </a:r>
            <a:endParaRPr lang="en-US" sz="1875" dirty="0"/>
          </a:p>
        </p:txBody>
      </p:sp>
      <p:sp>
        <p:nvSpPr>
          <p:cNvPr id="29" name="Text 27"/>
          <p:cNvSpPr/>
          <p:nvPr/>
        </p:nvSpPr>
        <p:spPr>
          <a:xfrm>
            <a:off x="1047750" y="9572625"/>
            <a:ext cx="566243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AI WEBSITE BUILDER</a:t>
            </a:r>
            <a:endParaRPr lang="en-US" sz="1500" dirty="0"/>
          </a:p>
        </p:txBody>
      </p:sp>
      <p:sp>
        <p:nvSpPr>
          <p:cNvPr id="30" name="Text 28"/>
          <p:cNvSpPr/>
          <p:nvPr/>
        </p:nvSpPr>
        <p:spPr>
          <a:xfrm>
            <a:off x="17000786" y="9572625"/>
            <a:ext cx="31566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06</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kern="0" spc="180" dirty="0">
                <a:solidFill>
                  <a:srgbClr val="EC3013"/>
                </a:solidFill>
                <a:latin typeface="Arial" pitchFamily="34" charset="0"/>
                <a:ea typeface="Arial" pitchFamily="34" charset="-122"/>
                <a:cs typeface="Arial" pitchFamily="34" charset="-120"/>
              </a:rPr>
              <a:t>06 · PROPOSED SYSTEM</a:t>
            </a:r>
            <a:endParaRPr lang="en-US" sz="1800" dirty="0"/>
          </a:p>
        </p:txBody>
      </p:sp>
      <p:sp>
        <p:nvSpPr>
          <p:cNvPr id="3" name="Shape 1"/>
          <p:cNvSpPr/>
          <p:nvPr/>
        </p:nvSpPr>
        <p:spPr>
          <a:xfrm>
            <a:off x="1047750" y="1440061"/>
            <a:ext cx="16192500" cy="19050"/>
          </a:xfrm>
          <a:prstGeom prst="rect">
            <a:avLst/>
          </a:prstGeom>
          <a:solidFill>
            <a:srgbClr val="201E1E">
              <a:alpha val="40000"/>
            </a:srgbClr>
          </a:solidFill>
          <a:ln/>
        </p:spPr>
        <p:txBody>
          <a:bodyPr/>
          <a:lstStyle/>
          <a:p>
            <a:endParaRPr lang="en-US"/>
          </a:p>
        </p:txBody>
      </p:sp>
      <p:sp>
        <p:nvSpPr>
          <p:cNvPr id="4" name="Text 2"/>
          <p:cNvSpPr/>
          <p:nvPr/>
        </p:nvSpPr>
        <p:spPr>
          <a:xfrm>
            <a:off x="1047750" y="1840111"/>
            <a:ext cx="17811750" cy="658118"/>
          </a:xfrm>
          <a:prstGeom prst="rect">
            <a:avLst/>
          </a:prstGeom>
          <a:noFill/>
          <a:ln/>
        </p:spPr>
        <p:txBody>
          <a:bodyPr wrap="square" lIns="25400" tIns="25400" rIns="25400" bIns="25400" rtlCol="0" anchor="t">
            <a:normAutofit/>
          </a:bodyPr>
          <a:lstStyle/>
          <a:p>
            <a:pPr marL="0" indent="0" algn="l">
              <a:lnSpc>
                <a:spcPct val="91690"/>
              </a:lnSpc>
              <a:buNone/>
            </a:pPr>
            <a:r>
              <a:rPr lang="en-US" sz="4650" b="1" kern="0" spc="-93" dirty="0">
                <a:solidFill>
                  <a:srgbClr val="201E1D"/>
                </a:solidFill>
                <a:latin typeface="Arial" pitchFamily="34" charset="0"/>
                <a:ea typeface="Arial" pitchFamily="34" charset="-122"/>
                <a:cs typeface="Arial" pitchFamily="34" charset="-120"/>
              </a:rPr>
              <a:t>App Features</a:t>
            </a:r>
            <a:endParaRPr lang="en-US" sz="4650" dirty="0"/>
          </a:p>
        </p:txBody>
      </p:sp>
      <p:sp>
        <p:nvSpPr>
          <p:cNvPr id="5" name="Shape 3"/>
          <p:cNvSpPr/>
          <p:nvPr/>
        </p:nvSpPr>
        <p:spPr>
          <a:xfrm>
            <a:off x="1047750" y="2993529"/>
            <a:ext cx="5016401" cy="19050"/>
          </a:xfrm>
          <a:prstGeom prst="rect">
            <a:avLst/>
          </a:prstGeom>
          <a:solidFill>
            <a:srgbClr val="201E1E">
              <a:alpha val="40000"/>
            </a:srgbClr>
          </a:solidFill>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50" y="3279279"/>
            <a:ext cx="419100" cy="419100"/>
          </a:xfrm>
          <a:prstGeom prst="rect">
            <a:avLst/>
          </a:prstGeom>
        </p:spPr>
      </p:pic>
      <p:sp>
        <p:nvSpPr>
          <p:cNvPr id="7" name="Text 4"/>
          <p:cNvSpPr/>
          <p:nvPr/>
        </p:nvSpPr>
        <p:spPr>
          <a:xfrm>
            <a:off x="1047750" y="3888879"/>
            <a:ext cx="5518041" cy="510480"/>
          </a:xfrm>
          <a:prstGeom prst="rect">
            <a:avLst/>
          </a:prstGeom>
          <a:noFill/>
          <a:ln/>
        </p:spPr>
        <p:txBody>
          <a:bodyPr wrap="square" lIns="25400" tIns="25400" rIns="25400" bIns="25400" rtlCol="0" anchor="t">
            <a:normAutofit fontScale="85000" lnSpcReduction="9000"/>
          </a:bodyPr>
          <a:lstStyle/>
          <a:p>
            <a:pPr marL="0" indent="0" algn="l">
              <a:lnSpc>
                <a:spcPct val="134054"/>
              </a:lnSpc>
              <a:buNone/>
            </a:pPr>
            <a:r>
              <a:rPr lang="en-US" sz="2400" b="1" kern="0" spc="-24" dirty="0">
                <a:solidFill>
                  <a:srgbClr val="201E1D"/>
                </a:solidFill>
                <a:latin typeface="Arial" pitchFamily="34" charset="0"/>
                <a:ea typeface="Arial" pitchFamily="34" charset="-122"/>
                <a:cs typeface="Arial" pitchFamily="34" charset="-120"/>
              </a:rPr>
              <a:t>Six Site-Type Templates</a:t>
            </a:r>
            <a:endParaRPr lang="en-US" sz="2400" dirty="0"/>
          </a:p>
        </p:txBody>
      </p:sp>
      <p:sp>
        <p:nvSpPr>
          <p:cNvPr id="8" name="Text 5"/>
          <p:cNvSpPr/>
          <p:nvPr/>
        </p:nvSpPr>
        <p:spPr>
          <a:xfrm>
            <a:off x="1047750" y="4551759"/>
            <a:ext cx="5166893" cy="1352282"/>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2150" dirty="0">
                <a:solidFill>
                  <a:srgbClr val="605D5D"/>
                </a:solidFill>
                <a:latin typeface="Arial" pitchFamily="34" charset="0"/>
                <a:ea typeface="Arial" pitchFamily="34" charset="-122"/>
                <a:cs typeface="Arial" pitchFamily="34" charset="-120"/>
              </a:rPr>
              <a:t>Covers portfolio, restaurant, small business, education, blog, and non-profit, each with its own content bank.</a:t>
            </a:r>
            <a:endParaRPr lang="en-US" sz="1950" dirty="0"/>
          </a:p>
        </p:txBody>
      </p:sp>
      <p:sp>
        <p:nvSpPr>
          <p:cNvPr id="9" name="Shape 6"/>
          <p:cNvSpPr/>
          <p:nvPr/>
        </p:nvSpPr>
        <p:spPr>
          <a:xfrm>
            <a:off x="6635651" y="2993529"/>
            <a:ext cx="5016550" cy="19050"/>
          </a:xfrm>
          <a:prstGeom prst="rect">
            <a:avLst/>
          </a:prstGeom>
          <a:solidFill>
            <a:srgbClr val="201E1E">
              <a:alpha val="40000"/>
            </a:srgbClr>
          </a:solidFill>
          <a:ln/>
        </p:spPr>
        <p:txBody>
          <a:bodyPr/>
          <a:lstStyle/>
          <a:p>
            <a:endParaRPr lang="en-US"/>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35651" y="3279279"/>
            <a:ext cx="419100" cy="419100"/>
          </a:xfrm>
          <a:prstGeom prst="rect">
            <a:avLst/>
          </a:prstGeom>
        </p:spPr>
      </p:pic>
      <p:sp>
        <p:nvSpPr>
          <p:cNvPr id="11" name="Text 7"/>
          <p:cNvSpPr/>
          <p:nvPr/>
        </p:nvSpPr>
        <p:spPr>
          <a:xfrm>
            <a:off x="6635651" y="3888879"/>
            <a:ext cx="5518205" cy="510480"/>
          </a:xfrm>
          <a:prstGeom prst="rect">
            <a:avLst/>
          </a:prstGeom>
          <a:noFill/>
          <a:ln/>
        </p:spPr>
        <p:txBody>
          <a:bodyPr wrap="square" lIns="25400" tIns="25400" rIns="25400" bIns="25400" rtlCol="0" anchor="t">
            <a:normAutofit fontScale="85000" lnSpcReduction="9000"/>
          </a:bodyPr>
          <a:lstStyle/>
          <a:p>
            <a:pPr marL="0" indent="0" algn="l">
              <a:lnSpc>
                <a:spcPct val="134054"/>
              </a:lnSpc>
              <a:buNone/>
            </a:pPr>
            <a:r>
              <a:rPr lang="en-US" sz="2400" b="1" kern="0" spc="-24" dirty="0">
                <a:solidFill>
                  <a:srgbClr val="201E1D"/>
                </a:solidFill>
                <a:latin typeface="Arial" pitchFamily="34" charset="0"/>
                <a:ea typeface="Arial" pitchFamily="34" charset="-122"/>
                <a:cs typeface="Arial" pitchFamily="34" charset="-120"/>
              </a:rPr>
              <a:t>Multi-Label Section Detection</a:t>
            </a:r>
            <a:endParaRPr lang="en-US" sz="2400" dirty="0"/>
          </a:p>
        </p:txBody>
      </p:sp>
      <p:sp>
        <p:nvSpPr>
          <p:cNvPr id="12" name="Text 8"/>
          <p:cNvSpPr/>
          <p:nvPr/>
        </p:nvSpPr>
        <p:spPr>
          <a:xfrm>
            <a:off x="6635651" y="4551759"/>
            <a:ext cx="5167046" cy="1005661"/>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2150" dirty="0">
                <a:solidFill>
                  <a:srgbClr val="605D5D"/>
                </a:solidFill>
                <a:latin typeface="Arial" pitchFamily="34" charset="0"/>
                <a:ea typeface="Arial" pitchFamily="34" charset="-122"/>
                <a:cs typeface="Arial" pitchFamily="34" charset="-120"/>
              </a:rPr>
              <a:t>Can flag several non-obvious sections, like donations plus volunteer sign-up, from one sentence.</a:t>
            </a:r>
            <a:endParaRPr lang="en-US" sz="1950" dirty="0"/>
          </a:p>
        </p:txBody>
      </p:sp>
      <p:sp>
        <p:nvSpPr>
          <p:cNvPr id="13" name="Shape 9"/>
          <p:cNvSpPr/>
          <p:nvPr/>
        </p:nvSpPr>
        <p:spPr>
          <a:xfrm>
            <a:off x="12223700" y="2993529"/>
            <a:ext cx="5016550" cy="19050"/>
          </a:xfrm>
          <a:prstGeom prst="rect">
            <a:avLst/>
          </a:prstGeom>
          <a:solidFill>
            <a:srgbClr val="201E1E">
              <a:alpha val="40000"/>
            </a:srgbClr>
          </a:solidFill>
          <a:ln/>
        </p:spPr>
        <p:txBody>
          <a:bodyPr/>
          <a:lstStyle/>
          <a:p>
            <a:endParaRPr lang="en-US"/>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223700" y="3279279"/>
            <a:ext cx="419100" cy="419100"/>
          </a:xfrm>
          <a:prstGeom prst="rect">
            <a:avLst/>
          </a:prstGeom>
        </p:spPr>
      </p:pic>
      <p:sp>
        <p:nvSpPr>
          <p:cNvPr id="15" name="Text 10"/>
          <p:cNvSpPr/>
          <p:nvPr/>
        </p:nvSpPr>
        <p:spPr>
          <a:xfrm>
            <a:off x="12223700" y="3888879"/>
            <a:ext cx="5518205" cy="510480"/>
          </a:xfrm>
          <a:prstGeom prst="rect">
            <a:avLst/>
          </a:prstGeom>
          <a:noFill/>
          <a:ln/>
        </p:spPr>
        <p:txBody>
          <a:bodyPr wrap="square" lIns="25400" tIns="25400" rIns="25400" bIns="25400" rtlCol="0" anchor="t">
            <a:normAutofit fontScale="85000" lnSpcReduction="9000"/>
          </a:bodyPr>
          <a:lstStyle/>
          <a:p>
            <a:pPr marL="0" indent="0" algn="l">
              <a:lnSpc>
                <a:spcPct val="134054"/>
              </a:lnSpc>
              <a:buNone/>
            </a:pPr>
            <a:r>
              <a:rPr lang="en-US" sz="2400" b="1" kern="0" spc="-24" dirty="0">
                <a:solidFill>
                  <a:srgbClr val="201E1D"/>
                </a:solidFill>
                <a:latin typeface="Arial" pitchFamily="34" charset="0"/>
                <a:ea typeface="Arial" pitchFamily="34" charset="-122"/>
                <a:cs typeface="Arial" pitchFamily="34" charset="-120"/>
              </a:rPr>
              <a:t>Device-Width Preview Toggle</a:t>
            </a:r>
            <a:endParaRPr lang="en-US" sz="2400" dirty="0"/>
          </a:p>
        </p:txBody>
      </p:sp>
      <p:sp>
        <p:nvSpPr>
          <p:cNvPr id="16" name="Text 11"/>
          <p:cNvSpPr/>
          <p:nvPr/>
        </p:nvSpPr>
        <p:spPr>
          <a:xfrm>
            <a:off x="12223700" y="4551759"/>
            <a:ext cx="5167046" cy="1005661"/>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2150" dirty="0">
                <a:solidFill>
                  <a:srgbClr val="605D5D"/>
                </a:solidFill>
                <a:latin typeface="Arial" pitchFamily="34" charset="0"/>
                <a:ea typeface="Arial" pitchFamily="34" charset="-122"/>
                <a:cs typeface="Arial" pitchFamily="34" charset="-120"/>
              </a:rPr>
              <a:t>Switches the live preview between mobile, tablet, and desktop instantly.</a:t>
            </a:r>
            <a:endParaRPr lang="en-US" sz="1950" dirty="0"/>
          </a:p>
        </p:txBody>
      </p:sp>
      <p:sp>
        <p:nvSpPr>
          <p:cNvPr id="17" name="Shape 12"/>
          <p:cNvSpPr/>
          <p:nvPr/>
        </p:nvSpPr>
        <p:spPr>
          <a:xfrm>
            <a:off x="1047750" y="6125021"/>
            <a:ext cx="5016401" cy="19050"/>
          </a:xfrm>
          <a:prstGeom prst="rect">
            <a:avLst/>
          </a:prstGeom>
          <a:solidFill>
            <a:srgbClr val="201E1E">
              <a:alpha val="40000"/>
            </a:srgbClr>
          </a:solidFill>
          <a:ln/>
        </p:spPr>
        <p:txBody>
          <a:bodyPr/>
          <a:lstStyle/>
          <a:p>
            <a:endParaRPr lang="en-US"/>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7750" y="6410771"/>
            <a:ext cx="419100" cy="419100"/>
          </a:xfrm>
          <a:prstGeom prst="rect">
            <a:avLst/>
          </a:prstGeom>
        </p:spPr>
      </p:pic>
      <p:sp>
        <p:nvSpPr>
          <p:cNvPr id="19" name="Text 13"/>
          <p:cNvSpPr/>
          <p:nvPr/>
        </p:nvSpPr>
        <p:spPr>
          <a:xfrm>
            <a:off x="1047750" y="7020371"/>
            <a:ext cx="5518041" cy="510480"/>
          </a:xfrm>
          <a:prstGeom prst="rect">
            <a:avLst/>
          </a:prstGeom>
          <a:noFill/>
          <a:ln/>
        </p:spPr>
        <p:txBody>
          <a:bodyPr wrap="square" lIns="25400" tIns="25400" rIns="25400" bIns="25400" rtlCol="0" anchor="t">
            <a:normAutofit fontScale="85000" lnSpcReduction="9000"/>
          </a:bodyPr>
          <a:lstStyle/>
          <a:p>
            <a:pPr marL="0" indent="0" algn="l">
              <a:lnSpc>
                <a:spcPct val="134054"/>
              </a:lnSpc>
              <a:buNone/>
            </a:pPr>
            <a:r>
              <a:rPr lang="en-US" sz="2400" b="1" kern="0" spc="-24" dirty="0">
                <a:solidFill>
                  <a:srgbClr val="201E1D"/>
                </a:solidFill>
                <a:latin typeface="Arial" pitchFamily="34" charset="0"/>
                <a:ea typeface="Arial" pitchFamily="34" charset="-122"/>
                <a:cs typeface="Arial" pitchFamily="34" charset="-120"/>
              </a:rPr>
              <a:t>In-Browser Editing</a:t>
            </a:r>
            <a:endParaRPr lang="en-US" sz="2400" dirty="0"/>
          </a:p>
        </p:txBody>
      </p:sp>
      <p:sp>
        <p:nvSpPr>
          <p:cNvPr id="20" name="Text 14"/>
          <p:cNvSpPr/>
          <p:nvPr/>
        </p:nvSpPr>
        <p:spPr>
          <a:xfrm>
            <a:off x="1047750" y="7683252"/>
            <a:ext cx="5166893" cy="1005661"/>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2150" dirty="0">
                <a:solidFill>
                  <a:srgbClr val="605D5D"/>
                </a:solidFill>
                <a:latin typeface="Arial" pitchFamily="34" charset="0"/>
                <a:ea typeface="Arial" pitchFamily="34" charset="-122"/>
                <a:cs typeface="Arial" pitchFamily="34" charset="-120"/>
              </a:rPr>
              <a:t>Lets the user tweak headings and colors directly on the preview before exporting.</a:t>
            </a:r>
            <a:endParaRPr lang="en-US" sz="1950" dirty="0"/>
          </a:p>
        </p:txBody>
      </p:sp>
      <p:sp>
        <p:nvSpPr>
          <p:cNvPr id="21" name="Shape 15"/>
          <p:cNvSpPr/>
          <p:nvPr/>
        </p:nvSpPr>
        <p:spPr>
          <a:xfrm>
            <a:off x="6635651" y="6125021"/>
            <a:ext cx="5016550" cy="19050"/>
          </a:xfrm>
          <a:prstGeom prst="rect">
            <a:avLst/>
          </a:prstGeom>
          <a:solidFill>
            <a:srgbClr val="201E1E">
              <a:alpha val="40000"/>
            </a:srgbClr>
          </a:solidFill>
          <a:ln/>
        </p:spPr>
        <p:txBody>
          <a:bodyPr/>
          <a:lstStyle/>
          <a:p>
            <a:endParaRPr lang="en-US"/>
          </a:p>
        </p:txBody>
      </p:sp>
      <p:pic>
        <p:nvPicPr>
          <p:cNvPr id="2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35651" y="6410771"/>
            <a:ext cx="419100" cy="419100"/>
          </a:xfrm>
          <a:prstGeom prst="rect">
            <a:avLst/>
          </a:prstGeom>
        </p:spPr>
      </p:pic>
      <p:sp>
        <p:nvSpPr>
          <p:cNvPr id="23" name="Text 16"/>
          <p:cNvSpPr/>
          <p:nvPr/>
        </p:nvSpPr>
        <p:spPr>
          <a:xfrm>
            <a:off x="6635651" y="7020371"/>
            <a:ext cx="5518205" cy="510480"/>
          </a:xfrm>
          <a:prstGeom prst="rect">
            <a:avLst/>
          </a:prstGeom>
          <a:noFill/>
          <a:ln/>
        </p:spPr>
        <p:txBody>
          <a:bodyPr wrap="square" lIns="25400" tIns="25400" rIns="25400" bIns="25400" rtlCol="0" anchor="t">
            <a:normAutofit fontScale="85000" lnSpcReduction="9000"/>
          </a:bodyPr>
          <a:lstStyle/>
          <a:p>
            <a:pPr marL="0" indent="0" algn="l">
              <a:lnSpc>
                <a:spcPct val="134054"/>
              </a:lnSpc>
              <a:buNone/>
            </a:pPr>
            <a:r>
              <a:rPr lang="en-US" sz="2400" b="1" kern="0" spc="-24" dirty="0">
                <a:solidFill>
                  <a:srgbClr val="201E1D"/>
                </a:solidFill>
                <a:latin typeface="Arial" pitchFamily="34" charset="0"/>
                <a:ea typeface="Arial" pitchFamily="34" charset="-122"/>
                <a:cs typeface="Arial" pitchFamily="34" charset="-120"/>
              </a:rPr>
              <a:t>Project History &amp; Accuracy Log</a:t>
            </a:r>
            <a:endParaRPr lang="en-US" sz="2400" dirty="0"/>
          </a:p>
        </p:txBody>
      </p:sp>
      <p:sp>
        <p:nvSpPr>
          <p:cNvPr id="24" name="Text 17"/>
          <p:cNvSpPr/>
          <p:nvPr/>
        </p:nvSpPr>
        <p:spPr>
          <a:xfrm>
            <a:off x="6635651" y="7683252"/>
            <a:ext cx="5167046" cy="1352282"/>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2150" dirty="0">
                <a:solidFill>
                  <a:srgbClr val="605D5D"/>
                </a:solidFill>
                <a:latin typeface="Arial" pitchFamily="34" charset="0"/>
                <a:ea typeface="Arial" pitchFamily="34" charset="-122"/>
                <a:cs typeface="Arial" pitchFamily="34" charset="-120"/>
              </a:rPr>
              <a:t>An About page backed by SQLite shows real measured accuracy and confidence figures.</a:t>
            </a:r>
            <a:endParaRPr lang="en-US" sz="1950" dirty="0"/>
          </a:p>
        </p:txBody>
      </p:sp>
      <p:sp>
        <p:nvSpPr>
          <p:cNvPr id="25" name="Shape 18"/>
          <p:cNvSpPr/>
          <p:nvPr/>
        </p:nvSpPr>
        <p:spPr>
          <a:xfrm>
            <a:off x="12223700" y="6125021"/>
            <a:ext cx="5016550" cy="19050"/>
          </a:xfrm>
          <a:prstGeom prst="rect">
            <a:avLst/>
          </a:prstGeom>
          <a:solidFill>
            <a:srgbClr val="201E1E">
              <a:alpha val="40000"/>
            </a:srgbClr>
          </a:solidFill>
          <a:ln/>
        </p:spPr>
        <p:txBody>
          <a:bodyPr/>
          <a:lstStyle/>
          <a:p>
            <a:endParaRPr lang="en-US"/>
          </a:p>
        </p:txBody>
      </p:sp>
      <p:pic>
        <p:nvPicPr>
          <p:cNvPr id="26"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223700" y="6410771"/>
            <a:ext cx="419100" cy="419100"/>
          </a:xfrm>
          <a:prstGeom prst="rect">
            <a:avLst/>
          </a:prstGeom>
        </p:spPr>
      </p:pic>
      <p:sp>
        <p:nvSpPr>
          <p:cNvPr id="27" name="Text 19"/>
          <p:cNvSpPr/>
          <p:nvPr/>
        </p:nvSpPr>
        <p:spPr>
          <a:xfrm>
            <a:off x="12223700" y="7020371"/>
            <a:ext cx="5518205" cy="510480"/>
          </a:xfrm>
          <a:prstGeom prst="rect">
            <a:avLst/>
          </a:prstGeom>
          <a:noFill/>
          <a:ln/>
        </p:spPr>
        <p:txBody>
          <a:bodyPr wrap="square" lIns="25400" tIns="25400" rIns="25400" bIns="25400" rtlCol="0" anchor="t">
            <a:normAutofit fontScale="85000" lnSpcReduction="9000"/>
          </a:bodyPr>
          <a:lstStyle/>
          <a:p>
            <a:pPr marL="0" indent="0" algn="l">
              <a:lnSpc>
                <a:spcPct val="134054"/>
              </a:lnSpc>
              <a:buNone/>
            </a:pPr>
            <a:r>
              <a:rPr lang="en-US" sz="2400" b="1" kern="0" spc="-24" dirty="0">
                <a:solidFill>
                  <a:srgbClr val="201E1D"/>
                </a:solidFill>
                <a:latin typeface="Arial" pitchFamily="34" charset="0"/>
                <a:ea typeface="Arial" pitchFamily="34" charset="-122"/>
                <a:cs typeface="Arial" pitchFamily="34" charset="-120"/>
              </a:rPr>
              <a:t>Keyword Fallback Safety Net</a:t>
            </a:r>
            <a:endParaRPr lang="en-US" sz="2400" dirty="0"/>
          </a:p>
        </p:txBody>
      </p:sp>
      <p:sp>
        <p:nvSpPr>
          <p:cNvPr id="28" name="Text 20"/>
          <p:cNvSpPr/>
          <p:nvPr/>
        </p:nvSpPr>
        <p:spPr>
          <a:xfrm>
            <a:off x="12223700" y="7683252"/>
            <a:ext cx="5167046" cy="1005661"/>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2150" dirty="0">
                <a:solidFill>
                  <a:srgbClr val="605D5D"/>
                </a:solidFill>
                <a:latin typeface="Arial" pitchFamily="34" charset="0"/>
                <a:ea typeface="Arial" pitchFamily="34" charset="-122"/>
                <a:cs typeface="Arial" pitchFamily="34" charset="-120"/>
              </a:rPr>
              <a:t>Falls back to a rule-only classifier if a trained model file is missing or corrupted.</a:t>
            </a:r>
            <a:endParaRPr lang="en-US" sz="1950" dirty="0"/>
          </a:p>
        </p:txBody>
      </p:sp>
      <p:sp>
        <p:nvSpPr>
          <p:cNvPr id="29" name="Text 21"/>
          <p:cNvSpPr/>
          <p:nvPr/>
        </p:nvSpPr>
        <p:spPr>
          <a:xfrm>
            <a:off x="1047750" y="9572625"/>
            <a:ext cx="566243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AI WEBSITE BUILDER</a:t>
            </a:r>
            <a:endParaRPr lang="en-US" sz="1500" dirty="0"/>
          </a:p>
        </p:txBody>
      </p:sp>
      <p:sp>
        <p:nvSpPr>
          <p:cNvPr id="30" name="Text 22"/>
          <p:cNvSpPr/>
          <p:nvPr/>
        </p:nvSpPr>
        <p:spPr>
          <a:xfrm>
            <a:off x="17000786" y="9572625"/>
            <a:ext cx="31566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07</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kern="0" spc="180" dirty="0">
                <a:solidFill>
                  <a:srgbClr val="EC3013"/>
                </a:solidFill>
                <a:latin typeface="Arial" pitchFamily="34" charset="0"/>
                <a:ea typeface="Arial" pitchFamily="34" charset="-122"/>
                <a:cs typeface="Arial" pitchFamily="34" charset="-120"/>
              </a:rPr>
              <a:t>07 · TECHNICAL DETAILS</a:t>
            </a:r>
            <a:endParaRPr lang="en-US" sz="1800" dirty="0"/>
          </a:p>
        </p:txBody>
      </p:sp>
      <p:sp>
        <p:nvSpPr>
          <p:cNvPr id="3" name="Shape 1"/>
          <p:cNvSpPr/>
          <p:nvPr/>
        </p:nvSpPr>
        <p:spPr>
          <a:xfrm>
            <a:off x="1047750" y="1440061"/>
            <a:ext cx="16192500" cy="19050"/>
          </a:xfrm>
          <a:prstGeom prst="rect">
            <a:avLst/>
          </a:prstGeom>
          <a:solidFill>
            <a:srgbClr val="201E1E">
              <a:alpha val="40000"/>
            </a:srgbClr>
          </a:solidFill>
          <a:ln/>
        </p:spPr>
        <p:txBody>
          <a:bodyPr/>
          <a:lstStyle/>
          <a:p>
            <a:endParaRPr lang="en-US"/>
          </a:p>
        </p:txBody>
      </p:sp>
      <p:sp>
        <p:nvSpPr>
          <p:cNvPr id="4" name="Text 2"/>
          <p:cNvSpPr/>
          <p:nvPr/>
        </p:nvSpPr>
        <p:spPr>
          <a:xfrm>
            <a:off x="1047750" y="1840111"/>
            <a:ext cx="17811750" cy="658118"/>
          </a:xfrm>
          <a:prstGeom prst="rect">
            <a:avLst/>
          </a:prstGeom>
          <a:noFill/>
          <a:ln/>
        </p:spPr>
        <p:txBody>
          <a:bodyPr wrap="square" lIns="25400" tIns="25400" rIns="25400" bIns="25400" rtlCol="0" anchor="t">
            <a:normAutofit/>
          </a:bodyPr>
          <a:lstStyle/>
          <a:p>
            <a:pPr marL="0" indent="0" algn="l">
              <a:lnSpc>
                <a:spcPct val="91690"/>
              </a:lnSpc>
              <a:buNone/>
            </a:pPr>
            <a:r>
              <a:rPr lang="en-US" sz="4650" b="1" kern="0" spc="-93" dirty="0">
                <a:solidFill>
                  <a:srgbClr val="201E1D"/>
                </a:solidFill>
                <a:latin typeface="Arial" pitchFamily="34" charset="0"/>
                <a:ea typeface="Arial" pitchFamily="34" charset="-122"/>
                <a:cs typeface="Arial" pitchFamily="34" charset="-120"/>
              </a:rPr>
              <a:t>Technology Stack</a:t>
            </a:r>
            <a:endParaRPr lang="en-US" sz="4650" dirty="0"/>
          </a:p>
        </p:txBody>
      </p:sp>
      <p:sp>
        <p:nvSpPr>
          <p:cNvPr id="5" name="Shape 3"/>
          <p:cNvSpPr/>
          <p:nvPr/>
        </p:nvSpPr>
        <p:spPr>
          <a:xfrm>
            <a:off x="1047750" y="2917329"/>
            <a:ext cx="7620000" cy="19050"/>
          </a:xfrm>
          <a:prstGeom prst="rect">
            <a:avLst/>
          </a:prstGeom>
          <a:solidFill>
            <a:srgbClr val="201E1E">
              <a:alpha val="40000"/>
            </a:srgbClr>
          </a:solidFill>
          <a:ln/>
        </p:spPr>
        <p:txBody>
          <a:bodyPr/>
          <a:lstStyle/>
          <a:p>
            <a:endParaRPr lang="en-US"/>
          </a:p>
        </p:txBody>
      </p:sp>
      <p:sp>
        <p:nvSpPr>
          <p:cNvPr id="6" name="Text 4"/>
          <p:cNvSpPr/>
          <p:nvPr/>
        </p:nvSpPr>
        <p:spPr>
          <a:xfrm>
            <a:off x="1047750" y="3250704"/>
            <a:ext cx="3742596" cy="362843"/>
          </a:xfrm>
          <a:prstGeom prst="rect">
            <a:avLst/>
          </a:prstGeom>
          <a:noFill/>
          <a:ln/>
        </p:spPr>
        <p:txBody>
          <a:bodyPr wrap="square" lIns="25400" tIns="25400" rIns="25400" bIns="25400" rtlCol="0" anchor="t">
            <a:normAutofit fontScale="85000" lnSpcReduction="9000"/>
          </a:bodyPr>
          <a:lstStyle/>
          <a:p>
            <a:pPr marL="0" indent="0" algn="l">
              <a:lnSpc>
                <a:spcPct val="131154"/>
              </a:lnSpc>
              <a:buNone/>
            </a:pPr>
            <a:r>
              <a:rPr lang="en-US" sz="1800" kern="0" spc="132" dirty="0">
                <a:solidFill>
                  <a:srgbClr val="7D7979"/>
                </a:solidFill>
                <a:latin typeface="Arial" pitchFamily="34" charset="0"/>
                <a:ea typeface="Arial" pitchFamily="34" charset="-122"/>
                <a:cs typeface="Arial" pitchFamily="34" charset="-120"/>
              </a:rPr>
              <a:t>Platform</a:t>
            </a:r>
            <a:endParaRPr lang="en-US" sz="1650" dirty="0"/>
          </a:p>
        </p:txBody>
      </p:sp>
      <p:sp>
        <p:nvSpPr>
          <p:cNvPr id="7" name="Text 5"/>
          <p:cNvSpPr/>
          <p:nvPr/>
        </p:nvSpPr>
        <p:spPr>
          <a:xfrm>
            <a:off x="4754910" y="3164979"/>
            <a:ext cx="4303961" cy="618172"/>
          </a:xfrm>
          <a:prstGeom prst="rect">
            <a:avLst/>
          </a:prstGeom>
          <a:noFill/>
          <a:ln/>
        </p:spPr>
        <p:txBody>
          <a:bodyPr wrap="square" lIns="25400" tIns="25400" rIns="25400" bIns="25400" rtlCol="0" anchor="t">
            <a:normAutofit fontScale="85000" lnSpcReduction="9000"/>
          </a:bodyPr>
          <a:lstStyle/>
          <a:p>
            <a:pPr marL="0" indent="0" algn="l">
              <a:lnSpc>
                <a:spcPct val="136765"/>
              </a:lnSpc>
              <a:buNone/>
            </a:pPr>
            <a:r>
              <a:rPr lang="en-US" sz="1800" b="1" dirty="0">
                <a:solidFill>
                  <a:srgbClr val="201E1D"/>
                </a:solidFill>
                <a:latin typeface="Arial" pitchFamily="34" charset="0"/>
                <a:ea typeface="Arial" pitchFamily="34" charset="-122"/>
                <a:cs typeface="Arial" pitchFamily="34" charset="-120"/>
              </a:rPr>
              <a:t>Local Flask web app (Python, browser UI, localhost-only)</a:t>
            </a:r>
            <a:endParaRPr lang="en-US" sz="2250" dirty="0"/>
          </a:p>
        </p:txBody>
      </p:sp>
      <p:sp>
        <p:nvSpPr>
          <p:cNvPr id="8" name="Shape 6"/>
          <p:cNvSpPr/>
          <p:nvPr/>
        </p:nvSpPr>
        <p:spPr>
          <a:xfrm>
            <a:off x="9620250" y="2917329"/>
            <a:ext cx="7620000" cy="19050"/>
          </a:xfrm>
          <a:prstGeom prst="rect">
            <a:avLst/>
          </a:prstGeom>
          <a:solidFill>
            <a:srgbClr val="201E1E">
              <a:alpha val="40000"/>
            </a:srgbClr>
          </a:solidFill>
          <a:ln/>
        </p:spPr>
        <p:txBody>
          <a:bodyPr/>
          <a:lstStyle/>
          <a:p>
            <a:endParaRPr lang="en-US"/>
          </a:p>
        </p:txBody>
      </p:sp>
      <p:sp>
        <p:nvSpPr>
          <p:cNvPr id="9" name="Text 7"/>
          <p:cNvSpPr/>
          <p:nvPr/>
        </p:nvSpPr>
        <p:spPr>
          <a:xfrm>
            <a:off x="9620250" y="3250704"/>
            <a:ext cx="3742596" cy="362843"/>
          </a:xfrm>
          <a:prstGeom prst="rect">
            <a:avLst/>
          </a:prstGeom>
          <a:noFill/>
          <a:ln/>
        </p:spPr>
        <p:txBody>
          <a:bodyPr wrap="square" lIns="25400" tIns="25400" rIns="25400" bIns="25400" rtlCol="0" anchor="t">
            <a:normAutofit fontScale="85000" lnSpcReduction="9000"/>
          </a:bodyPr>
          <a:lstStyle/>
          <a:p>
            <a:pPr marL="0" indent="0" algn="l">
              <a:lnSpc>
                <a:spcPct val="131154"/>
              </a:lnSpc>
              <a:buNone/>
            </a:pPr>
            <a:r>
              <a:rPr lang="en-US" sz="1800" kern="0" spc="132" dirty="0">
                <a:solidFill>
                  <a:srgbClr val="7D7979"/>
                </a:solidFill>
                <a:latin typeface="Arial" pitchFamily="34" charset="0"/>
                <a:ea typeface="Arial" pitchFamily="34" charset="-122"/>
                <a:cs typeface="Arial" pitchFamily="34" charset="-120"/>
              </a:rPr>
              <a:t>Backend / Templating</a:t>
            </a:r>
            <a:endParaRPr lang="en-US" sz="1650" dirty="0"/>
          </a:p>
        </p:txBody>
      </p:sp>
      <p:sp>
        <p:nvSpPr>
          <p:cNvPr id="10" name="Text 8"/>
          <p:cNvSpPr/>
          <p:nvPr/>
        </p:nvSpPr>
        <p:spPr>
          <a:xfrm>
            <a:off x="13327410" y="3164979"/>
            <a:ext cx="4030072" cy="1243965"/>
          </a:xfrm>
          <a:prstGeom prst="rect">
            <a:avLst/>
          </a:prstGeom>
          <a:noFill/>
          <a:ln/>
        </p:spPr>
        <p:txBody>
          <a:bodyPr wrap="square" lIns="25400" tIns="25400" rIns="25400" bIns="25400" rtlCol="0" anchor="t">
            <a:normAutofit fontScale="85000" lnSpcReduction="9000"/>
          </a:bodyPr>
          <a:lstStyle/>
          <a:p>
            <a:pPr marL="0" indent="0" algn="l">
              <a:lnSpc>
                <a:spcPct val="136765"/>
              </a:lnSpc>
              <a:buNone/>
            </a:pPr>
            <a:r>
              <a:rPr lang="en-US" sz="1800" b="1" dirty="0">
                <a:solidFill>
                  <a:srgbClr val="201E1D"/>
                </a:solidFill>
                <a:latin typeface="Arial" pitchFamily="34" charset="0"/>
                <a:ea typeface="Arial" pitchFamily="34" charset="-122"/>
                <a:cs typeface="Arial" pitchFamily="34" charset="-120"/>
              </a:rPr>
              <a:t>Flask + Jinja2</a:t>
            </a:r>
            <a:endParaRPr lang="en-US" sz="2250" dirty="0"/>
          </a:p>
        </p:txBody>
      </p:sp>
      <p:sp>
        <p:nvSpPr>
          <p:cNvPr id="11" name="Shape 9"/>
          <p:cNvSpPr/>
          <p:nvPr/>
        </p:nvSpPr>
        <p:spPr>
          <a:xfrm>
            <a:off x="1047750" y="4553724"/>
            <a:ext cx="7620000" cy="19050"/>
          </a:xfrm>
          <a:prstGeom prst="rect">
            <a:avLst/>
          </a:prstGeom>
          <a:solidFill>
            <a:srgbClr val="201E1E">
              <a:alpha val="40000"/>
            </a:srgbClr>
          </a:solidFill>
          <a:ln/>
        </p:spPr>
        <p:txBody>
          <a:bodyPr/>
          <a:lstStyle/>
          <a:p>
            <a:endParaRPr lang="en-US"/>
          </a:p>
        </p:txBody>
      </p:sp>
      <p:sp>
        <p:nvSpPr>
          <p:cNvPr id="12" name="Text 10"/>
          <p:cNvSpPr/>
          <p:nvPr/>
        </p:nvSpPr>
        <p:spPr>
          <a:xfrm>
            <a:off x="1047750" y="4887099"/>
            <a:ext cx="3742596" cy="362843"/>
          </a:xfrm>
          <a:prstGeom prst="rect">
            <a:avLst/>
          </a:prstGeom>
          <a:noFill/>
          <a:ln/>
        </p:spPr>
        <p:txBody>
          <a:bodyPr wrap="square" lIns="25400" tIns="25400" rIns="25400" bIns="25400" rtlCol="0" anchor="t">
            <a:normAutofit fontScale="85000" lnSpcReduction="9000"/>
          </a:bodyPr>
          <a:lstStyle/>
          <a:p>
            <a:pPr marL="0" indent="0" algn="l">
              <a:lnSpc>
                <a:spcPct val="131154"/>
              </a:lnSpc>
              <a:buNone/>
            </a:pPr>
            <a:r>
              <a:rPr lang="en-US" sz="1800" kern="0" spc="132" dirty="0">
                <a:solidFill>
                  <a:srgbClr val="7D7979"/>
                </a:solidFill>
                <a:latin typeface="Arial" pitchFamily="34" charset="0"/>
                <a:ea typeface="Arial" pitchFamily="34" charset="-122"/>
                <a:cs typeface="Arial" pitchFamily="34" charset="-120"/>
              </a:rPr>
              <a:t>Machine Learning</a:t>
            </a:r>
            <a:endParaRPr lang="en-US" sz="1650" dirty="0"/>
          </a:p>
        </p:txBody>
      </p:sp>
      <p:sp>
        <p:nvSpPr>
          <p:cNvPr id="13" name="Text 11"/>
          <p:cNvSpPr/>
          <p:nvPr/>
        </p:nvSpPr>
        <p:spPr>
          <a:xfrm>
            <a:off x="4754910" y="4801374"/>
            <a:ext cx="4030072" cy="1243965"/>
          </a:xfrm>
          <a:prstGeom prst="rect">
            <a:avLst/>
          </a:prstGeom>
          <a:noFill/>
          <a:ln/>
        </p:spPr>
        <p:txBody>
          <a:bodyPr wrap="square" lIns="25400" tIns="25400" rIns="25400" bIns="25400" rtlCol="0" anchor="t">
            <a:normAutofit fontScale="85000" lnSpcReduction="9000"/>
          </a:bodyPr>
          <a:lstStyle/>
          <a:p>
            <a:pPr marL="0" indent="0" algn="l">
              <a:lnSpc>
                <a:spcPct val="136765"/>
              </a:lnSpc>
              <a:buNone/>
            </a:pPr>
            <a:r>
              <a:rPr lang="en-US" sz="1800" b="1" dirty="0">
                <a:solidFill>
                  <a:srgbClr val="201E1D"/>
                </a:solidFill>
                <a:latin typeface="Arial" pitchFamily="34" charset="0"/>
                <a:ea typeface="Arial" pitchFamily="34" charset="-122"/>
                <a:cs typeface="Arial" pitchFamily="34" charset="-120"/>
              </a:rPr>
              <a:t>scikit-learn (TF-IDF, logistic regression, one-vs-rest) + joblib</a:t>
            </a:r>
            <a:endParaRPr lang="en-US" sz="2250" dirty="0"/>
          </a:p>
        </p:txBody>
      </p:sp>
      <p:sp>
        <p:nvSpPr>
          <p:cNvPr id="14" name="Shape 12"/>
          <p:cNvSpPr/>
          <p:nvPr/>
        </p:nvSpPr>
        <p:spPr>
          <a:xfrm>
            <a:off x="9620250" y="4553724"/>
            <a:ext cx="7620000" cy="19050"/>
          </a:xfrm>
          <a:prstGeom prst="rect">
            <a:avLst/>
          </a:prstGeom>
          <a:solidFill>
            <a:srgbClr val="201E1E">
              <a:alpha val="40000"/>
            </a:srgbClr>
          </a:solidFill>
          <a:ln/>
        </p:spPr>
        <p:txBody>
          <a:bodyPr/>
          <a:lstStyle/>
          <a:p>
            <a:endParaRPr lang="en-US"/>
          </a:p>
        </p:txBody>
      </p:sp>
      <p:sp>
        <p:nvSpPr>
          <p:cNvPr id="15" name="Text 13"/>
          <p:cNvSpPr/>
          <p:nvPr/>
        </p:nvSpPr>
        <p:spPr>
          <a:xfrm>
            <a:off x="9620250" y="4887099"/>
            <a:ext cx="3742596" cy="362843"/>
          </a:xfrm>
          <a:prstGeom prst="rect">
            <a:avLst/>
          </a:prstGeom>
          <a:noFill/>
          <a:ln/>
        </p:spPr>
        <p:txBody>
          <a:bodyPr wrap="square" lIns="25400" tIns="25400" rIns="25400" bIns="25400" rtlCol="0" anchor="t">
            <a:normAutofit fontScale="85000" lnSpcReduction="9000"/>
          </a:bodyPr>
          <a:lstStyle/>
          <a:p>
            <a:pPr marL="0" indent="0" algn="l">
              <a:lnSpc>
                <a:spcPct val="131154"/>
              </a:lnSpc>
              <a:buNone/>
            </a:pPr>
            <a:r>
              <a:rPr lang="en-US" sz="1800" kern="0" spc="132" dirty="0">
                <a:solidFill>
                  <a:srgbClr val="7D7979"/>
                </a:solidFill>
                <a:latin typeface="Arial" pitchFamily="34" charset="0"/>
                <a:ea typeface="Arial" pitchFamily="34" charset="-122"/>
                <a:cs typeface="Arial" pitchFamily="34" charset="-120"/>
              </a:rPr>
              <a:t>Rule-Based Logic</a:t>
            </a:r>
            <a:endParaRPr lang="en-US" sz="1650" dirty="0"/>
          </a:p>
        </p:txBody>
      </p:sp>
      <p:sp>
        <p:nvSpPr>
          <p:cNvPr id="16" name="Text 14"/>
          <p:cNvSpPr/>
          <p:nvPr/>
        </p:nvSpPr>
        <p:spPr>
          <a:xfrm>
            <a:off x="13327410" y="4801374"/>
            <a:ext cx="4303961" cy="618172"/>
          </a:xfrm>
          <a:prstGeom prst="rect">
            <a:avLst/>
          </a:prstGeom>
          <a:noFill/>
          <a:ln/>
        </p:spPr>
        <p:txBody>
          <a:bodyPr wrap="square" lIns="25400" tIns="25400" rIns="25400" bIns="25400" rtlCol="0" anchor="t">
            <a:normAutofit fontScale="85000" lnSpcReduction="9000"/>
          </a:bodyPr>
          <a:lstStyle/>
          <a:p>
            <a:pPr marL="0" indent="0" algn="l">
              <a:lnSpc>
                <a:spcPct val="136765"/>
              </a:lnSpc>
              <a:buNone/>
            </a:pPr>
            <a:r>
              <a:rPr lang="en-US" sz="1800" b="1" dirty="0">
                <a:solidFill>
                  <a:srgbClr val="201E1D"/>
                </a:solidFill>
                <a:latin typeface="Arial" pitchFamily="34" charset="0"/>
                <a:ea typeface="Arial" pitchFamily="34" charset="-122"/>
                <a:cs typeface="Arial" pitchFamily="34" charset="-120"/>
              </a:rPr>
              <a:t>Python regex and word lists for extraction and theming</a:t>
            </a:r>
            <a:endParaRPr lang="en-US" sz="2250" dirty="0"/>
          </a:p>
        </p:txBody>
      </p:sp>
      <p:sp>
        <p:nvSpPr>
          <p:cNvPr id="17" name="Shape 15"/>
          <p:cNvSpPr/>
          <p:nvPr/>
        </p:nvSpPr>
        <p:spPr>
          <a:xfrm>
            <a:off x="1047750" y="7826514"/>
            <a:ext cx="7620000" cy="19050"/>
          </a:xfrm>
          <a:prstGeom prst="rect">
            <a:avLst/>
          </a:prstGeom>
          <a:solidFill>
            <a:srgbClr val="201E1E">
              <a:alpha val="40000"/>
            </a:srgbClr>
          </a:solidFill>
          <a:ln/>
        </p:spPr>
        <p:txBody>
          <a:bodyPr/>
          <a:lstStyle/>
          <a:p>
            <a:endParaRPr lang="en-US"/>
          </a:p>
        </p:txBody>
      </p:sp>
      <p:sp>
        <p:nvSpPr>
          <p:cNvPr id="18" name="Shape 16"/>
          <p:cNvSpPr/>
          <p:nvPr/>
        </p:nvSpPr>
        <p:spPr>
          <a:xfrm>
            <a:off x="1047750" y="6190119"/>
            <a:ext cx="7620000" cy="19050"/>
          </a:xfrm>
          <a:prstGeom prst="rect">
            <a:avLst/>
          </a:prstGeom>
          <a:solidFill>
            <a:srgbClr val="201E1E">
              <a:alpha val="40000"/>
            </a:srgbClr>
          </a:solidFill>
          <a:ln/>
        </p:spPr>
        <p:txBody>
          <a:bodyPr/>
          <a:lstStyle/>
          <a:p>
            <a:endParaRPr lang="en-US"/>
          </a:p>
        </p:txBody>
      </p:sp>
      <p:sp>
        <p:nvSpPr>
          <p:cNvPr id="19" name="Text 17"/>
          <p:cNvSpPr/>
          <p:nvPr/>
        </p:nvSpPr>
        <p:spPr>
          <a:xfrm>
            <a:off x="1047750" y="6523494"/>
            <a:ext cx="3742596" cy="362843"/>
          </a:xfrm>
          <a:prstGeom prst="rect">
            <a:avLst/>
          </a:prstGeom>
          <a:noFill/>
          <a:ln/>
        </p:spPr>
        <p:txBody>
          <a:bodyPr wrap="square" lIns="25400" tIns="25400" rIns="25400" bIns="25400" rtlCol="0" anchor="t">
            <a:normAutofit fontScale="85000" lnSpcReduction="9000"/>
          </a:bodyPr>
          <a:lstStyle/>
          <a:p>
            <a:pPr marL="0" indent="0" algn="l">
              <a:lnSpc>
                <a:spcPct val="131154"/>
              </a:lnSpc>
              <a:buNone/>
            </a:pPr>
            <a:r>
              <a:rPr lang="en-US" sz="1800" kern="0" spc="132" dirty="0">
                <a:solidFill>
                  <a:srgbClr val="7D7979"/>
                </a:solidFill>
                <a:latin typeface="Arial" pitchFamily="34" charset="0"/>
                <a:ea typeface="Arial" pitchFamily="34" charset="-122"/>
                <a:cs typeface="Arial" pitchFamily="34" charset="-120"/>
              </a:rPr>
              <a:t>Storage</a:t>
            </a:r>
            <a:endParaRPr lang="en-US" sz="1650" dirty="0"/>
          </a:p>
        </p:txBody>
      </p:sp>
      <p:sp>
        <p:nvSpPr>
          <p:cNvPr id="20" name="Text 18"/>
          <p:cNvSpPr/>
          <p:nvPr/>
        </p:nvSpPr>
        <p:spPr>
          <a:xfrm>
            <a:off x="4754910" y="6437769"/>
            <a:ext cx="4030072" cy="1243965"/>
          </a:xfrm>
          <a:prstGeom prst="rect">
            <a:avLst/>
          </a:prstGeom>
          <a:noFill/>
          <a:ln/>
        </p:spPr>
        <p:txBody>
          <a:bodyPr wrap="square" lIns="25400" tIns="25400" rIns="25400" bIns="25400" rtlCol="0" anchor="t">
            <a:normAutofit fontScale="85000" lnSpcReduction="9000"/>
          </a:bodyPr>
          <a:lstStyle/>
          <a:p>
            <a:pPr marL="0" indent="0" algn="l">
              <a:lnSpc>
                <a:spcPct val="136765"/>
              </a:lnSpc>
              <a:buNone/>
            </a:pPr>
            <a:r>
              <a:rPr lang="en-US" sz="1800" b="1" dirty="0">
                <a:solidFill>
                  <a:srgbClr val="201E1D"/>
                </a:solidFill>
                <a:latin typeface="Arial" pitchFamily="34" charset="0"/>
                <a:ea typeface="Arial" pitchFamily="34" charset="-122"/>
                <a:cs typeface="Arial" pitchFamily="34" charset="-120"/>
              </a:rPr>
              <a:t>SQLite</a:t>
            </a:r>
            <a:endParaRPr lang="en-US" sz="2250" dirty="0"/>
          </a:p>
        </p:txBody>
      </p:sp>
      <p:sp>
        <p:nvSpPr>
          <p:cNvPr id="21" name="Shape 19"/>
          <p:cNvSpPr/>
          <p:nvPr/>
        </p:nvSpPr>
        <p:spPr>
          <a:xfrm>
            <a:off x="9620250" y="7826514"/>
            <a:ext cx="7620000" cy="19050"/>
          </a:xfrm>
          <a:prstGeom prst="rect">
            <a:avLst/>
          </a:prstGeom>
          <a:solidFill>
            <a:srgbClr val="201E1E">
              <a:alpha val="40000"/>
            </a:srgbClr>
          </a:solidFill>
          <a:ln/>
        </p:spPr>
        <p:txBody>
          <a:bodyPr/>
          <a:lstStyle/>
          <a:p>
            <a:endParaRPr lang="en-US"/>
          </a:p>
        </p:txBody>
      </p:sp>
      <p:sp>
        <p:nvSpPr>
          <p:cNvPr id="22" name="Shape 20"/>
          <p:cNvSpPr/>
          <p:nvPr/>
        </p:nvSpPr>
        <p:spPr>
          <a:xfrm>
            <a:off x="9620250" y="6190119"/>
            <a:ext cx="7620000" cy="19050"/>
          </a:xfrm>
          <a:prstGeom prst="rect">
            <a:avLst/>
          </a:prstGeom>
          <a:solidFill>
            <a:srgbClr val="201E1E">
              <a:alpha val="40000"/>
            </a:srgbClr>
          </a:solidFill>
          <a:ln/>
        </p:spPr>
        <p:txBody>
          <a:bodyPr/>
          <a:lstStyle/>
          <a:p>
            <a:endParaRPr lang="en-US"/>
          </a:p>
        </p:txBody>
      </p:sp>
      <p:sp>
        <p:nvSpPr>
          <p:cNvPr id="23" name="Text 21"/>
          <p:cNvSpPr/>
          <p:nvPr/>
        </p:nvSpPr>
        <p:spPr>
          <a:xfrm>
            <a:off x="9620250" y="6523494"/>
            <a:ext cx="3742596" cy="362843"/>
          </a:xfrm>
          <a:prstGeom prst="rect">
            <a:avLst/>
          </a:prstGeom>
          <a:noFill/>
          <a:ln/>
        </p:spPr>
        <p:txBody>
          <a:bodyPr wrap="square" lIns="25400" tIns="25400" rIns="25400" bIns="25400" rtlCol="0" anchor="t">
            <a:normAutofit fontScale="85000" lnSpcReduction="9000"/>
          </a:bodyPr>
          <a:lstStyle/>
          <a:p>
            <a:pPr marL="0" indent="0" algn="l">
              <a:lnSpc>
                <a:spcPct val="131154"/>
              </a:lnSpc>
              <a:buNone/>
            </a:pPr>
            <a:r>
              <a:rPr lang="en-US" sz="1800" kern="0" spc="132" dirty="0">
                <a:solidFill>
                  <a:srgbClr val="7D7979"/>
                </a:solidFill>
                <a:latin typeface="Arial" pitchFamily="34" charset="0"/>
                <a:ea typeface="Arial" pitchFamily="34" charset="-122"/>
                <a:cs typeface="Arial" pitchFamily="34" charset="-120"/>
              </a:rPr>
              <a:t>Export &amp; Testing</a:t>
            </a:r>
            <a:endParaRPr lang="en-US" sz="1650" dirty="0"/>
          </a:p>
        </p:txBody>
      </p:sp>
      <p:sp>
        <p:nvSpPr>
          <p:cNvPr id="24" name="Text 22"/>
          <p:cNvSpPr/>
          <p:nvPr/>
        </p:nvSpPr>
        <p:spPr>
          <a:xfrm>
            <a:off x="13327410" y="6437769"/>
            <a:ext cx="4030072" cy="1243965"/>
          </a:xfrm>
          <a:prstGeom prst="rect">
            <a:avLst/>
          </a:prstGeom>
          <a:noFill/>
          <a:ln/>
        </p:spPr>
        <p:txBody>
          <a:bodyPr wrap="square" lIns="25400" tIns="25400" rIns="25400" bIns="25400" rtlCol="0" anchor="t">
            <a:normAutofit fontScale="85000" lnSpcReduction="9000"/>
          </a:bodyPr>
          <a:lstStyle/>
          <a:p>
            <a:pPr marL="0" indent="0" algn="l">
              <a:lnSpc>
                <a:spcPct val="136765"/>
              </a:lnSpc>
              <a:buNone/>
            </a:pPr>
            <a:r>
              <a:rPr lang="en-US" sz="1800" b="1" dirty="0">
                <a:solidFill>
                  <a:srgbClr val="201E1D"/>
                </a:solidFill>
                <a:latin typeface="Arial" pitchFamily="34" charset="0"/>
                <a:ea typeface="Arial" pitchFamily="34" charset="-122"/>
                <a:cs typeface="Arial" pitchFamily="34" charset="-120"/>
              </a:rPr>
              <a:t>zipfile + pytest</a:t>
            </a:r>
            <a:endParaRPr lang="en-US" sz="2250" dirty="0"/>
          </a:p>
        </p:txBody>
      </p:sp>
      <p:sp>
        <p:nvSpPr>
          <p:cNvPr id="25" name="Text 23"/>
          <p:cNvSpPr/>
          <p:nvPr/>
        </p:nvSpPr>
        <p:spPr>
          <a:xfrm>
            <a:off x="1047750" y="8264664"/>
            <a:ext cx="13735050" cy="893207"/>
          </a:xfrm>
          <a:prstGeom prst="rect">
            <a:avLst/>
          </a:prstGeom>
          <a:noFill/>
          <a:ln/>
        </p:spPr>
        <p:txBody>
          <a:bodyPr wrap="square" lIns="25400" tIns="25400" rIns="25400" bIns="25400" rtlCol="0" anchor="t">
            <a:normAutofit/>
          </a:bodyPr>
          <a:lstStyle/>
          <a:p>
            <a:pPr marL="0" indent="0" algn="l">
              <a:lnSpc>
                <a:spcPct val="121613"/>
              </a:lnSpc>
              <a:buNone/>
            </a:pPr>
            <a:r>
              <a:rPr lang="en-US" sz="2150" dirty="0">
                <a:solidFill>
                  <a:srgbClr val="605D5D"/>
                </a:solidFill>
                <a:latin typeface="Arial" pitchFamily="34" charset="0"/>
                <a:ea typeface="Arial" pitchFamily="34" charset="-122"/>
                <a:cs typeface="Arial" pitchFamily="34" charset="-120"/>
              </a:rPr>
              <a:t>Every tool is lightweight and CPU-only so the whole pipeline trains, runs, and exports on a single laptop with no cloud infrastructure.</a:t>
            </a:r>
            <a:endParaRPr lang="en-US" sz="1950" dirty="0"/>
          </a:p>
        </p:txBody>
      </p:sp>
      <p:sp>
        <p:nvSpPr>
          <p:cNvPr id="26" name="Text 24"/>
          <p:cNvSpPr/>
          <p:nvPr/>
        </p:nvSpPr>
        <p:spPr>
          <a:xfrm>
            <a:off x="1047750" y="9572625"/>
            <a:ext cx="566243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AI WEBSITE BUILDER</a:t>
            </a:r>
            <a:endParaRPr lang="en-US" sz="1500" dirty="0"/>
          </a:p>
        </p:txBody>
      </p:sp>
      <p:sp>
        <p:nvSpPr>
          <p:cNvPr id="27" name="Text 25"/>
          <p:cNvSpPr/>
          <p:nvPr/>
        </p:nvSpPr>
        <p:spPr>
          <a:xfrm>
            <a:off x="17000786" y="9572625"/>
            <a:ext cx="31566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08</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kern="0" spc="180" dirty="0">
                <a:solidFill>
                  <a:srgbClr val="EC3013"/>
                </a:solidFill>
                <a:latin typeface="Arial" pitchFamily="34" charset="0"/>
                <a:ea typeface="Arial" pitchFamily="34" charset="-122"/>
                <a:cs typeface="Arial" pitchFamily="34" charset="-120"/>
              </a:rPr>
              <a:t>08 · SYSTEM DESIGN</a:t>
            </a:r>
            <a:endParaRPr lang="en-US" sz="1800" dirty="0"/>
          </a:p>
        </p:txBody>
      </p:sp>
      <p:sp>
        <p:nvSpPr>
          <p:cNvPr id="3" name="Shape 1"/>
          <p:cNvSpPr/>
          <p:nvPr/>
        </p:nvSpPr>
        <p:spPr>
          <a:xfrm>
            <a:off x="1047750" y="1440061"/>
            <a:ext cx="16192500" cy="19050"/>
          </a:xfrm>
          <a:prstGeom prst="rect">
            <a:avLst/>
          </a:prstGeom>
          <a:solidFill>
            <a:srgbClr val="201E1E">
              <a:alpha val="40000"/>
            </a:srgbClr>
          </a:solidFill>
          <a:ln/>
        </p:spPr>
        <p:txBody>
          <a:bodyPr/>
          <a:lstStyle/>
          <a:p>
            <a:endParaRPr lang="en-US"/>
          </a:p>
        </p:txBody>
      </p:sp>
      <p:sp>
        <p:nvSpPr>
          <p:cNvPr id="4" name="Text 2"/>
          <p:cNvSpPr/>
          <p:nvPr/>
        </p:nvSpPr>
        <p:spPr>
          <a:xfrm>
            <a:off x="1047750" y="1840111"/>
            <a:ext cx="17811750" cy="658118"/>
          </a:xfrm>
          <a:prstGeom prst="rect">
            <a:avLst/>
          </a:prstGeom>
          <a:noFill/>
          <a:ln/>
        </p:spPr>
        <p:txBody>
          <a:bodyPr wrap="square" lIns="25400" tIns="25400" rIns="25400" bIns="25400" rtlCol="0" anchor="t">
            <a:normAutofit/>
          </a:bodyPr>
          <a:lstStyle/>
          <a:p>
            <a:pPr marL="0" indent="0" algn="l">
              <a:lnSpc>
                <a:spcPct val="91690"/>
              </a:lnSpc>
              <a:buNone/>
            </a:pPr>
            <a:r>
              <a:rPr lang="en-US" sz="4650" b="1" kern="0" spc="-93" dirty="0">
                <a:solidFill>
                  <a:srgbClr val="201E1D"/>
                </a:solidFill>
                <a:latin typeface="Arial" pitchFamily="34" charset="0"/>
                <a:ea typeface="Arial" pitchFamily="34" charset="-122"/>
                <a:cs typeface="Arial" pitchFamily="34" charset="-120"/>
              </a:rPr>
              <a:t>Application Flow</a:t>
            </a:r>
            <a:endParaRPr lang="en-US" sz="4650" dirty="0"/>
          </a:p>
        </p:txBody>
      </p:sp>
      <p:sp>
        <p:nvSpPr>
          <p:cNvPr id="5" name="Shape 3"/>
          <p:cNvSpPr/>
          <p:nvPr/>
        </p:nvSpPr>
        <p:spPr>
          <a:xfrm>
            <a:off x="1047750" y="3069729"/>
            <a:ext cx="3055590" cy="38100"/>
          </a:xfrm>
          <a:prstGeom prst="rect">
            <a:avLst/>
          </a:prstGeom>
          <a:solidFill>
            <a:srgbClr val="EC3013"/>
          </a:solidFill>
          <a:ln/>
        </p:spPr>
        <p:txBody>
          <a:bodyPr/>
          <a:lstStyle/>
          <a:p>
            <a:endParaRPr lang="en-US"/>
          </a:p>
        </p:txBody>
      </p:sp>
      <p:sp>
        <p:nvSpPr>
          <p:cNvPr id="6" name="Text 4"/>
          <p:cNvSpPr/>
          <p:nvPr/>
        </p:nvSpPr>
        <p:spPr>
          <a:xfrm>
            <a:off x="1047750" y="3336429"/>
            <a:ext cx="3361149"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65" dirty="0">
                <a:solidFill>
                  <a:srgbClr val="EC3013"/>
                </a:solidFill>
                <a:latin typeface="Arial" pitchFamily="34" charset="0"/>
                <a:ea typeface="Arial" pitchFamily="34" charset="-122"/>
                <a:cs typeface="Arial" pitchFamily="34" charset="-120"/>
              </a:rPr>
              <a:t>01</a:t>
            </a:r>
            <a:endParaRPr lang="en-US" sz="1650" dirty="0"/>
          </a:p>
        </p:txBody>
      </p:sp>
      <p:sp>
        <p:nvSpPr>
          <p:cNvPr id="7" name="Text 5"/>
          <p:cNvSpPr/>
          <p:nvPr/>
        </p:nvSpPr>
        <p:spPr>
          <a:xfrm>
            <a:off x="1047750" y="3813572"/>
            <a:ext cx="3361149" cy="403771"/>
          </a:xfrm>
          <a:prstGeom prst="rect">
            <a:avLst/>
          </a:prstGeom>
          <a:noFill/>
          <a:ln/>
        </p:spPr>
        <p:txBody>
          <a:bodyPr wrap="square" lIns="25400" tIns="25400" rIns="25400" bIns="25400" rtlCol="0" anchor="t">
            <a:normAutofit fontScale="85000" lnSpcReduction="9000"/>
          </a:bodyPr>
          <a:lstStyle/>
          <a:p>
            <a:pPr marL="0" indent="0" algn="l">
              <a:lnSpc>
                <a:spcPct val="103784"/>
              </a:lnSpc>
              <a:buNone/>
            </a:pPr>
            <a:r>
              <a:rPr lang="en-US" sz="2400" b="1" dirty="0">
                <a:solidFill>
                  <a:srgbClr val="201E1D"/>
                </a:solidFill>
                <a:latin typeface="Arial" pitchFamily="34" charset="0"/>
                <a:ea typeface="Arial" pitchFamily="34" charset="-122"/>
                <a:cs typeface="Arial" pitchFamily="34" charset="-120"/>
              </a:rPr>
              <a:t>Prompt Input</a:t>
            </a:r>
            <a:endParaRPr lang="en-US" sz="2400" dirty="0"/>
          </a:p>
        </p:txBody>
      </p:sp>
      <p:sp>
        <p:nvSpPr>
          <p:cNvPr id="8" name="Shape 6"/>
          <p:cNvSpPr/>
          <p:nvPr/>
        </p:nvSpPr>
        <p:spPr>
          <a:xfrm>
            <a:off x="4331940" y="3069729"/>
            <a:ext cx="3055590" cy="38100"/>
          </a:xfrm>
          <a:prstGeom prst="rect">
            <a:avLst/>
          </a:prstGeom>
          <a:solidFill>
            <a:srgbClr val="EC3013"/>
          </a:solidFill>
          <a:ln/>
        </p:spPr>
        <p:txBody>
          <a:bodyPr/>
          <a:lstStyle/>
          <a:p>
            <a:endParaRPr lang="en-US"/>
          </a:p>
        </p:txBody>
      </p:sp>
      <p:sp>
        <p:nvSpPr>
          <p:cNvPr id="9" name="Text 7"/>
          <p:cNvSpPr/>
          <p:nvPr/>
        </p:nvSpPr>
        <p:spPr>
          <a:xfrm>
            <a:off x="4331940" y="3336429"/>
            <a:ext cx="3361149"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65" dirty="0">
                <a:solidFill>
                  <a:srgbClr val="EC3013"/>
                </a:solidFill>
                <a:latin typeface="Arial" pitchFamily="34" charset="0"/>
                <a:ea typeface="Arial" pitchFamily="34" charset="-122"/>
                <a:cs typeface="Arial" pitchFamily="34" charset="-120"/>
              </a:rPr>
              <a:t>02</a:t>
            </a:r>
            <a:endParaRPr lang="en-US" sz="1650" dirty="0"/>
          </a:p>
        </p:txBody>
      </p:sp>
      <p:sp>
        <p:nvSpPr>
          <p:cNvPr id="10" name="Text 8"/>
          <p:cNvSpPr/>
          <p:nvPr/>
        </p:nvSpPr>
        <p:spPr>
          <a:xfrm>
            <a:off x="4331940" y="3813572"/>
            <a:ext cx="3361149" cy="403771"/>
          </a:xfrm>
          <a:prstGeom prst="rect">
            <a:avLst/>
          </a:prstGeom>
          <a:noFill/>
          <a:ln/>
        </p:spPr>
        <p:txBody>
          <a:bodyPr wrap="square" lIns="25400" tIns="25400" rIns="25400" bIns="25400" rtlCol="0" anchor="t">
            <a:normAutofit fontScale="85000" lnSpcReduction="9000"/>
          </a:bodyPr>
          <a:lstStyle/>
          <a:p>
            <a:pPr marL="0" indent="0" algn="l">
              <a:lnSpc>
                <a:spcPct val="103784"/>
              </a:lnSpc>
              <a:buNone/>
            </a:pPr>
            <a:r>
              <a:rPr lang="en-US" sz="2400" b="1" dirty="0">
                <a:solidFill>
                  <a:srgbClr val="201E1D"/>
                </a:solidFill>
                <a:latin typeface="Arial" pitchFamily="34" charset="0"/>
                <a:ea typeface="Arial" pitchFamily="34" charset="-122"/>
                <a:cs typeface="Arial" pitchFamily="34" charset="-120"/>
              </a:rPr>
              <a:t>Classification</a:t>
            </a:r>
            <a:endParaRPr lang="en-US" sz="2400" dirty="0"/>
          </a:p>
        </p:txBody>
      </p:sp>
      <p:sp>
        <p:nvSpPr>
          <p:cNvPr id="11" name="Shape 9"/>
          <p:cNvSpPr/>
          <p:nvPr/>
        </p:nvSpPr>
        <p:spPr>
          <a:xfrm>
            <a:off x="7616130" y="3069729"/>
            <a:ext cx="3055590" cy="38100"/>
          </a:xfrm>
          <a:prstGeom prst="rect">
            <a:avLst/>
          </a:prstGeom>
          <a:solidFill>
            <a:srgbClr val="EC3013"/>
          </a:solidFill>
          <a:ln/>
        </p:spPr>
        <p:txBody>
          <a:bodyPr/>
          <a:lstStyle/>
          <a:p>
            <a:endParaRPr lang="en-US"/>
          </a:p>
        </p:txBody>
      </p:sp>
      <p:sp>
        <p:nvSpPr>
          <p:cNvPr id="12" name="Text 10"/>
          <p:cNvSpPr/>
          <p:nvPr/>
        </p:nvSpPr>
        <p:spPr>
          <a:xfrm>
            <a:off x="7616130" y="3336429"/>
            <a:ext cx="3361149"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65" dirty="0">
                <a:solidFill>
                  <a:srgbClr val="EC3013"/>
                </a:solidFill>
                <a:latin typeface="Arial" pitchFamily="34" charset="0"/>
                <a:ea typeface="Arial" pitchFamily="34" charset="-122"/>
                <a:cs typeface="Arial" pitchFamily="34" charset="-120"/>
              </a:rPr>
              <a:t>03</a:t>
            </a:r>
            <a:endParaRPr lang="en-US" sz="1650" dirty="0"/>
          </a:p>
        </p:txBody>
      </p:sp>
      <p:sp>
        <p:nvSpPr>
          <p:cNvPr id="13" name="Text 11"/>
          <p:cNvSpPr/>
          <p:nvPr/>
        </p:nvSpPr>
        <p:spPr>
          <a:xfrm>
            <a:off x="7616130" y="3813572"/>
            <a:ext cx="3147258" cy="769441"/>
          </a:xfrm>
          <a:prstGeom prst="rect">
            <a:avLst/>
          </a:prstGeom>
          <a:noFill/>
          <a:ln/>
        </p:spPr>
        <p:txBody>
          <a:bodyPr wrap="square" lIns="25400" tIns="25400" rIns="25400" bIns="25400" rtlCol="0" anchor="t">
            <a:normAutofit fontScale="85000" lnSpcReduction="9000"/>
          </a:bodyPr>
          <a:lstStyle/>
          <a:p>
            <a:pPr marL="0" indent="0" algn="l">
              <a:lnSpc>
                <a:spcPct val="103784"/>
              </a:lnSpc>
              <a:buNone/>
            </a:pPr>
            <a:r>
              <a:rPr lang="en-US" sz="2400" b="1" dirty="0">
                <a:solidFill>
                  <a:srgbClr val="201E1D"/>
                </a:solidFill>
                <a:latin typeface="Arial" pitchFamily="34" charset="0"/>
                <a:ea typeface="Arial" pitchFamily="34" charset="-122"/>
                <a:cs typeface="Arial" pitchFamily="34" charset="-120"/>
              </a:rPr>
              <a:t>Slot Extraction &amp; Theming</a:t>
            </a:r>
            <a:endParaRPr lang="en-US" sz="2400" dirty="0"/>
          </a:p>
        </p:txBody>
      </p:sp>
      <p:sp>
        <p:nvSpPr>
          <p:cNvPr id="14" name="Shape 12"/>
          <p:cNvSpPr/>
          <p:nvPr/>
        </p:nvSpPr>
        <p:spPr>
          <a:xfrm>
            <a:off x="10900321" y="3069729"/>
            <a:ext cx="3055590" cy="38100"/>
          </a:xfrm>
          <a:prstGeom prst="rect">
            <a:avLst/>
          </a:prstGeom>
          <a:solidFill>
            <a:srgbClr val="EC3013"/>
          </a:solidFill>
          <a:ln/>
        </p:spPr>
        <p:txBody>
          <a:bodyPr/>
          <a:lstStyle/>
          <a:p>
            <a:endParaRPr lang="en-US"/>
          </a:p>
        </p:txBody>
      </p:sp>
      <p:sp>
        <p:nvSpPr>
          <p:cNvPr id="15" name="Text 13"/>
          <p:cNvSpPr/>
          <p:nvPr/>
        </p:nvSpPr>
        <p:spPr>
          <a:xfrm>
            <a:off x="10900321" y="3336429"/>
            <a:ext cx="3361149"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65" dirty="0">
                <a:solidFill>
                  <a:srgbClr val="EC3013"/>
                </a:solidFill>
                <a:latin typeface="Arial" pitchFamily="34" charset="0"/>
                <a:ea typeface="Arial" pitchFamily="34" charset="-122"/>
                <a:cs typeface="Arial" pitchFamily="34" charset="-120"/>
              </a:rPr>
              <a:t>04</a:t>
            </a:r>
            <a:endParaRPr lang="en-US" sz="1650" dirty="0"/>
          </a:p>
        </p:txBody>
      </p:sp>
      <p:sp>
        <p:nvSpPr>
          <p:cNvPr id="16" name="Text 14"/>
          <p:cNvSpPr/>
          <p:nvPr/>
        </p:nvSpPr>
        <p:spPr>
          <a:xfrm>
            <a:off x="10900321" y="3813572"/>
            <a:ext cx="3361149" cy="403771"/>
          </a:xfrm>
          <a:prstGeom prst="rect">
            <a:avLst/>
          </a:prstGeom>
          <a:noFill/>
          <a:ln/>
        </p:spPr>
        <p:txBody>
          <a:bodyPr wrap="square" lIns="25400" tIns="25400" rIns="25400" bIns="25400" rtlCol="0" anchor="t">
            <a:normAutofit fontScale="85000" lnSpcReduction="9000"/>
          </a:bodyPr>
          <a:lstStyle/>
          <a:p>
            <a:pPr marL="0" indent="0" algn="l">
              <a:lnSpc>
                <a:spcPct val="103784"/>
              </a:lnSpc>
              <a:buNone/>
            </a:pPr>
            <a:r>
              <a:rPr lang="en-US" sz="2400" b="1" dirty="0">
                <a:solidFill>
                  <a:srgbClr val="201E1D"/>
                </a:solidFill>
                <a:latin typeface="Arial" pitchFamily="34" charset="0"/>
                <a:ea typeface="Arial" pitchFamily="34" charset="-122"/>
                <a:cs typeface="Arial" pitchFamily="34" charset="-120"/>
              </a:rPr>
              <a:t>Template Assembly</a:t>
            </a:r>
            <a:endParaRPr lang="en-US" sz="2400" dirty="0"/>
          </a:p>
        </p:txBody>
      </p:sp>
      <p:sp>
        <p:nvSpPr>
          <p:cNvPr id="17" name="Shape 15"/>
          <p:cNvSpPr/>
          <p:nvPr/>
        </p:nvSpPr>
        <p:spPr>
          <a:xfrm>
            <a:off x="14184511" y="3069729"/>
            <a:ext cx="3055590" cy="38100"/>
          </a:xfrm>
          <a:prstGeom prst="rect">
            <a:avLst/>
          </a:prstGeom>
          <a:solidFill>
            <a:srgbClr val="EC3013"/>
          </a:solidFill>
          <a:ln/>
        </p:spPr>
        <p:txBody>
          <a:bodyPr/>
          <a:lstStyle/>
          <a:p>
            <a:endParaRPr lang="en-US"/>
          </a:p>
        </p:txBody>
      </p:sp>
      <p:sp>
        <p:nvSpPr>
          <p:cNvPr id="18" name="Text 16"/>
          <p:cNvSpPr/>
          <p:nvPr/>
        </p:nvSpPr>
        <p:spPr>
          <a:xfrm>
            <a:off x="14184511" y="3336429"/>
            <a:ext cx="3361149"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b="1" kern="0" spc="165" dirty="0">
                <a:solidFill>
                  <a:srgbClr val="EC3013"/>
                </a:solidFill>
                <a:latin typeface="Arial" pitchFamily="34" charset="0"/>
                <a:ea typeface="Arial" pitchFamily="34" charset="-122"/>
                <a:cs typeface="Arial" pitchFamily="34" charset="-120"/>
              </a:rPr>
              <a:t>05</a:t>
            </a:r>
            <a:endParaRPr lang="en-US" sz="1650" dirty="0"/>
          </a:p>
        </p:txBody>
      </p:sp>
      <p:sp>
        <p:nvSpPr>
          <p:cNvPr id="19" name="Text 17"/>
          <p:cNvSpPr/>
          <p:nvPr/>
        </p:nvSpPr>
        <p:spPr>
          <a:xfrm>
            <a:off x="14184511" y="3813572"/>
            <a:ext cx="3361149" cy="403771"/>
          </a:xfrm>
          <a:prstGeom prst="rect">
            <a:avLst/>
          </a:prstGeom>
          <a:noFill/>
          <a:ln/>
        </p:spPr>
        <p:txBody>
          <a:bodyPr wrap="square" lIns="25400" tIns="25400" rIns="25400" bIns="25400" rtlCol="0" anchor="t">
            <a:normAutofit fontScale="85000" lnSpcReduction="9000"/>
          </a:bodyPr>
          <a:lstStyle/>
          <a:p>
            <a:pPr marL="0" indent="0" algn="l">
              <a:lnSpc>
                <a:spcPct val="103784"/>
              </a:lnSpc>
              <a:buNone/>
            </a:pPr>
            <a:r>
              <a:rPr lang="en-US" sz="2400" b="1" dirty="0">
                <a:solidFill>
                  <a:srgbClr val="201E1D"/>
                </a:solidFill>
                <a:latin typeface="Arial" pitchFamily="34" charset="0"/>
                <a:ea typeface="Arial" pitchFamily="34" charset="-122"/>
                <a:cs typeface="Arial" pitchFamily="34" charset="-120"/>
              </a:rPr>
              <a:t>Preview &amp; Export</a:t>
            </a:r>
            <a:endParaRPr lang="en-US" sz="2400" dirty="0"/>
          </a:p>
        </p:txBody>
      </p:sp>
      <p:sp>
        <p:nvSpPr>
          <p:cNvPr id="20" name="Shape 18"/>
          <p:cNvSpPr/>
          <p:nvPr/>
        </p:nvSpPr>
        <p:spPr>
          <a:xfrm>
            <a:off x="1047750" y="5230713"/>
            <a:ext cx="16192500" cy="19050"/>
          </a:xfrm>
          <a:prstGeom prst="rect">
            <a:avLst/>
          </a:prstGeom>
          <a:solidFill>
            <a:srgbClr val="201E1E">
              <a:alpha val="40000"/>
            </a:srgbClr>
          </a:solidFill>
          <a:ln/>
        </p:spPr>
        <p:txBody>
          <a:bodyPr/>
          <a:lstStyle/>
          <a:p>
            <a:endParaRPr lang="en-US"/>
          </a:p>
        </p:txBody>
      </p:sp>
      <p:pic>
        <p:nvPicPr>
          <p:cNvPr id="2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50" y="5592663"/>
            <a:ext cx="419100" cy="419100"/>
          </a:xfrm>
          <a:prstGeom prst="rect">
            <a:avLst/>
          </a:prstGeom>
        </p:spPr>
      </p:pic>
      <p:sp>
        <p:nvSpPr>
          <p:cNvPr id="22" name="Text 19"/>
          <p:cNvSpPr/>
          <p:nvPr/>
        </p:nvSpPr>
        <p:spPr>
          <a:xfrm>
            <a:off x="1695450" y="5592663"/>
            <a:ext cx="7377684" cy="731341"/>
          </a:xfrm>
          <a:prstGeom prst="rect">
            <a:avLst/>
          </a:prstGeom>
          <a:noFill/>
          <a:ln/>
        </p:spPr>
        <p:txBody>
          <a:bodyPr wrap="square" lIns="25400" tIns="25400" rIns="25400" bIns="25400" rtlCol="0" anchor="t">
            <a:normAutofit/>
          </a:bodyPr>
          <a:lstStyle/>
          <a:p>
            <a:pPr marL="0" indent="0" algn="l">
              <a:lnSpc>
                <a:spcPct val="117419"/>
              </a:lnSpc>
              <a:buNone/>
            </a:pPr>
            <a:r>
              <a:rPr lang="en-US" sz="1950" dirty="0">
                <a:solidFill>
                  <a:srgbClr val="201E1D"/>
                </a:solidFill>
                <a:latin typeface="Arial" pitchFamily="34" charset="0"/>
                <a:ea typeface="Arial" pitchFamily="34" charset="-122"/>
                <a:cs typeface="Arial" pitchFamily="34" charset="-120"/>
              </a:rPr>
              <a:t>(To be added)</a:t>
            </a:r>
            <a:endParaRPr lang="en-US" sz="1950" dirty="0"/>
          </a:p>
        </p:txBody>
      </p:sp>
      <p:pic>
        <p:nvPicPr>
          <p:cNvPr id="2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29750" y="5592663"/>
            <a:ext cx="419100" cy="419100"/>
          </a:xfrm>
          <a:prstGeom prst="rect">
            <a:avLst/>
          </a:prstGeom>
        </p:spPr>
      </p:pic>
      <p:sp>
        <p:nvSpPr>
          <p:cNvPr id="24" name="Text 20"/>
          <p:cNvSpPr/>
          <p:nvPr/>
        </p:nvSpPr>
        <p:spPr>
          <a:xfrm>
            <a:off x="10077450" y="5592663"/>
            <a:ext cx="7377684" cy="731341"/>
          </a:xfrm>
          <a:prstGeom prst="rect">
            <a:avLst/>
          </a:prstGeom>
          <a:noFill/>
          <a:ln/>
        </p:spPr>
        <p:txBody>
          <a:bodyPr wrap="square" lIns="25400" tIns="25400" rIns="25400" bIns="25400" rtlCol="0" anchor="t">
            <a:normAutofit/>
          </a:bodyPr>
          <a:lstStyle/>
          <a:p>
            <a:pPr marL="0" indent="0" algn="l">
              <a:lnSpc>
                <a:spcPct val="117419"/>
              </a:lnSpc>
              <a:buNone/>
            </a:pPr>
            <a:r>
              <a:rPr lang="en-US" sz="1950" dirty="0">
                <a:solidFill>
                  <a:srgbClr val="201E1D"/>
                </a:solidFill>
                <a:latin typeface="Arial" pitchFamily="34" charset="0"/>
                <a:ea typeface="Arial" pitchFamily="34" charset="-122"/>
                <a:cs typeface="Arial" pitchFamily="34" charset="-120"/>
              </a:rPr>
              <a:t>About Project screen is accessible anytime from the Home Screen.</a:t>
            </a:r>
            <a:endParaRPr lang="en-US" sz="1950" dirty="0"/>
          </a:p>
        </p:txBody>
      </p:sp>
      <p:sp>
        <p:nvSpPr>
          <p:cNvPr id="25" name="Text 21"/>
          <p:cNvSpPr/>
          <p:nvPr/>
        </p:nvSpPr>
        <p:spPr>
          <a:xfrm>
            <a:off x="1047750" y="9572625"/>
            <a:ext cx="566243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AI WEBSITE BUILDER</a:t>
            </a:r>
            <a:endParaRPr lang="en-US" sz="1500" dirty="0"/>
          </a:p>
        </p:txBody>
      </p:sp>
      <p:sp>
        <p:nvSpPr>
          <p:cNvPr id="26" name="Text 22"/>
          <p:cNvSpPr/>
          <p:nvPr/>
        </p:nvSpPr>
        <p:spPr>
          <a:xfrm>
            <a:off x="17000786" y="9572625"/>
            <a:ext cx="31566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09</a:t>
            </a:r>
            <a:endParaRPr lang="en-US" sz="1500" dirty="0"/>
          </a:p>
        </p:txBody>
      </p:sp>
      <p:sp>
        <p:nvSpPr>
          <p:cNvPr id="27" name="Screenshot Placeholder 1695450"/>
          <p:cNvSpPr/>
          <p:nvPr/>
        </p:nvSpPr>
        <p:spPr>
          <a:xfrm>
            <a:off x="1695450" y="6474004"/>
            <a:ext cx="7377684" cy="2925996"/>
          </a:xfrm>
          <a:prstGeom prst="rect">
            <a:avLst/>
          </a:prstGeom>
          <a:solidFill>
            <a:srgbClr val="F2F2F2"/>
          </a:solidFill>
          <a:ln w="12700">
            <a:solidFill>
              <a:srgbClr val="BAB6B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a:solidFill>
                  <a:srgbClr val="8A8686"/>
                </a:solidFill>
                <a:latin typeface="Arial"/>
              </a:rPr>
              <a:t>Screenshot to be added</a:t>
            </a:r>
          </a:p>
        </p:txBody>
      </p:sp>
      <p:sp>
        <p:nvSpPr>
          <p:cNvPr id="28" name="Screenshot Placeholder 10077450"/>
          <p:cNvSpPr/>
          <p:nvPr/>
        </p:nvSpPr>
        <p:spPr>
          <a:xfrm>
            <a:off x="10077450" y="6474004"/>
            <a:ext cx="7377684" cy="2925996"/>
          </a:xfrm>
          <a:prstGeom prst="rect">
            <a:avLst/>
          </a:prstGeom>
          <a:solidFill>
            <a:srgbClr val="F2F2F2"/>
          </a:solidFill>
          <a:ln w="12700">
            <a:solidFill>
              <a:srgbClr val="BAB6B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a:solidFill>
                  <a:srgbClr val="8A8686"/>
                </a:solidFill>
                <a:latin typeface="Arial"/>
              </a:rPr>
              <a:t>Screenshot to be added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kern="0" spc="180" dirty="0">
                <a:solidFill>
                  <a:srgbClr val="EC3013"/>
                </a:solidFill>
                <a:latin typeface="Arial" pitchFamily="34" charset="0"/>
                <a:ea typeface="Arial" pitchFamily="34" charset="-122"/>
                <a:cs typeface="Arial" pitchFamily="34" charset="-120"/>
              </a:rPr>
              <a:t>09 · MODEL IMPLEMENTATION</a:t>
            </a:r>
            <a:endParaRPr lang="en-US" sz="1800" dirty="0"/>
          </a:p>
        </p:txBody>
      </p:sp>
      <p:sp>
        <p:nvSpPr>
          <p:cNvPr id="3" name="Shape 1"/>
          <p:cNvSpPr/>
          <p:nvPr/>
        </p:nvSpPr>
        <p:spPr>
          <a:xfrm>
            <a:off x="1047750" y="1440061"/>
            <a:ext cx="16192500" cy="19050"/>
          </a:xfrm>
          <a:prstGeom prst="rect">
            <a:avLst/>
          </a:prstGeom>
          <a:solidFill>
            <a:srgbClr val="201E1E">
              <a:alpha val="40000"/>
            </a:srgbClr>
          </a:solidFill>
          <a:ln/>
        </p:spPr>
        <p:txBody>
          <a:bodyPr/>
          <a:lstStyle/>
          <a:p>
            <a:endParaRPr lang="en-US"/>
          </a:p>
        </p:txBody>
      </p:sp>
      <p:sp>
        <p:nvSpPr>
          <p:cNvPr id="4" name="Text 2"/>
          <p:cNvSpPr/>
          <p:nvPr/>
        </p:nvSpPr>
        <p:spPr>
          <a:xfrm>
            <a:off x="1047750" y="1840111"/>
            <a:ext cx="17811750" cy="658118"/>
          </a:xfrm>
          <a:prstGeom prst="rect">
            <a:avLst/>
          </a:prstGeom>
          <a:noFill/>
          <a:ln/>
        </p:spPr>
        <p:txBody>
          <a:bodyPr wrap="square" lIns="25400" tIns="25400" rIns="25400" bIns="25400" rtlCol="0" anchor="t">
            <a:normAutofit/>
          </a:bodyPr>
          <a:lstStyle/>
          <a:p>
            <a:pPr marL="0" indent="0" algn="l">
              <a:lnSpc>
                <a:spcPct val="91690"/>
              </a:lnSpc>
              <a:buNone/>
            </a:pPr>
            <a:r>
              <a:rPr lang="en-US" sz="4650" b="1" kern="0" spc="-93" dirty="0">
                <a:solidFill>
                  <a:srgbClr val="201E1D"/>
                </a:solidFill>
                <a:latin typeface="Arial" pitchFamily="34" charset="0"/>
                <a:ea typeface="Arial" pitchFamily="34" charset="-122"/>
                <a:cs typeface="Arial" pitchFamily="34" charset="-120"/>
              </a:rPr>
              <a:t>Model Implementation &amp; Training</a:t>
            </a:r>
            <a:endParaRPr lang="en-US" sz="46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50" y="2993529"/>
            <a:ext cx="419100" cy="419100"/>
          </a:xfrm>
          <a:prstGeom prst="rect">
            <a:avLst/>
          </a:prstGeom>
        </p:spPr>
      </p:pic>
      <p:sp>
        <p:nvSpPr>
          <p:cNvPr id="6" name="Text 3"/>
          <p:cNvSpPr/>
          <p:nvPr/>
        </p:nvSpPr>
        <p:spPr>
          <a:xfrm>
            <a:off x="1047750" y="3584079"/>
            <a:ext cx="4075748" cy="381000"/>
          </a:xfrm>
          <a:prstGeom prst="rect">
            <a:avLst/>
          </a:prstGeom>
          <a:noFill/>
          <a:ln/>
        </p:spPr>
        <p:txBody>
          <a:bodyPr wrap="square" lIns="25400" tIns="25400" rIns="25400" bIns="25400" rtlCol="0" anchor="t">
            <a:normAutofit fontScale="85000" lnSpcReduction="9000"/>
          </a:bodyPr>
          <a:lstStyle/>
          <a:p>
            <a:pPr marL="0" indent="0" algn="l">
              <a:lnSpc>
                <a:spcPct val="105882"/>
              </a:lnSpc>
              <a:buNone/>
            </a:pPr>
            <a:r>
              <a:rPr lang="en-US" sz="2250" b="1" dirty="0">
                <a:solidFill>
                  <a:srgbClr val="201E1D"/>
                </a:solidFill>
                <a:latin typeface="Arial" pitchFamily="34" charset="0"/>
                <a:ea typeface="Arial" pitchFamily="34" charset="-122"/>
                <a:cs typeface="Arial" pitchFamily="34" charset="-120"/>
              </a:rPr>
              <a:t>1. Dataset &amp; Classifier Training</a:t>
            </a:r>
            <a:endParaRPr lang="en-US" sz="2250" dirty="0"/>
          </a:p>
        </p:txBody>
      </p:sp>
      <p:sp>
        <p:nvSpPr>
          <p:cNvPr id="7" name="Text 4"/>
          <p:cNvSpPr/>
          <p:nvPr/>
        </p:nvSpPr>
        <p:spPr>
          <a:xfrm>
            <a:off x="1047750" y="4098429"/>
            <a:ext cx="3816382" cy="1443722"/>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2150" dirty="0">
                <a:solidFill>
                  <a:srgbClr val="605D5D"/>
                </a:solidFill>
                <a:latin typeface="Arial" pitchFamily="34" charset="0"/>
                <a:ea typeface="Arial" pitchFamily="34" charset="-122"/>
                <a:cs typeface="Arial" pitchFamily="34" charset="-120"/>
              </a:rPr>
              <a:t>Hand-labelled prompts trained into TF-IDF + logistic regression models for type and sections.</a:t>
            </a:r>
            <a:endParaRPr lang="en-US" sz="19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10175" y="2993529"/>
            <a:ext cx="419100" cy="419100"/>
          </a:xfrm>
          <a:prstGeom prst="rect">
            <a:avLst/>
          </a:prstGeom>
        </p:spPr>
      </p:pic>
      <p:sp>
        <p:nvSpPr>
          <p:cNvPr id="9" name="Text 5"/>
          <p:cNvSpPr/>
          <p:nvPr/>
        </p:nvSpPr>
        <p:spPr>
          <a:xfrm>
            <a:off x="5210175" y="3584079"/>
            <a:ext cx="4075748" cy="381000"/>
          </a:xfrm>
          <a:prstGeom prst="rect">
            <a:avLst/>
          </a:prstGeom>
          <a:noFill/>
          <a:ln/>
        </p:spPr>
        <p:txBody>
          <a:bodyPr wrap="square" lIns="25400" tIns="25400" rIns="25400" bIns="25400" rtlCol="0" anchor="t">
            <a:normAutofit fontScale="85000" lnSpcReduction="9000"/>
          </a:bodyPr>
          <a:lstStyle/>
          <a:p>
            <a:pPr marL="0" indent="0" algn="l">
              <a:lnSpc>
                <a:spcPct val="105882"/>
              </a:lnSpc>
              <a:buNone/>
            </a:pPr>
            <a:r>
              <a:rPr lang="en-US" sz="2250" b="1" dirty="0">
                <a:solidFill>
                  <a:srgbClr val="201E1D"/>
                </a:solidFill>
                <a:latin typeface="Arial" pitchFamily="34" charset="0"/>
                <a:ea typeface="Arial" pitchFamily="34" charset="-122"/>
                <a:cs typeface="Arial" pitchFamily="34" charset="-120"/>
              </a:rPr>
              <a:t>2. Extraction &amp; Theme Rules</a:t>
            </a:r>
            <a:endParaRPr lang="en-US" sz="2250" dirty="0"/>
          </a:p>
        </p:txBody>
      </p:sp>
      <p:sp>
        <p:nvSpPr>
          <p:cNvPr id="10" name="Text 6"/>
          <p:cNvSpPr/>
          <p:nvPr/>
        </p:nvSpPr>
        <p:spPr>
          <a:xfrm>
            <a:off x="5210175" y="4098429"/>
            <a:ext cx="3816382" cy="1443722"/>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2150" dirty="0">
                <a:solidFill>
                  <a:srgbClr val="605D5D"/>
                </a:solidFill>
                <a:latin typeface="Arial" pitchFamily="34" charset="0"/>
                <a:ea typeface="Arial" pitchFamily="34" charset="-122"/>
                <a:cs typeface="Arial" pitchFamily="34" charset="-120"/>
              </a:rPr>
              <a:t>Wrote regex patterns and tone-to-palette mappings for name, contact, and styling.</a:t>
            </a:r>
            <a:endParaRPr lang="en-US" sz="195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72600" y="2993529"/>
            <a:ext cx="419100" cy="419100"/>
          </a:xfrm>
          <a:prstGeom prst="rect">
            <a:avLst/>
          </a:prstGeom>
        </p:spPr>
      </p:pic>
      <p:sp>
        <p:nvSpPr>
          <p:cNvPr id="12" name="Text 7"/>
          <p:cNvSpPr/>
          <p:nvPr/>
        </p:nvSpPr>
        <p:spPr>
          <a:xfrm>
            <a:off x="9372600" y="3584079"/>
            <a:ext cx="4075748" cy="381000"/>
          </a:xfrm>
          <a:prstGeom prst="rect">
            <a:avLst/>
          </a:prstGeom>
          <a:noFill/>
          <a:ln/>
        </p:spPr>
        <p:txBody>
          <a:bodyPr wrap="square" lIns="25400" tIns="25400" rIns="25400" bIns="25400" rtlCol="0" anchor="t">
            <a:normAutofit fontScale="85000" lnSpcReduction="9000"/>
          </a:bodyPr>
          <a:lstStyle/>
          <a:p>
            <a:pPr marL="0" indent="0" algn="l">
              <a:lnSpc>
                <a:spcPct val="105882"/>
              </a:lnSpc>
              <a:buNone/>
            </a:pPr>
            <a:r>
              <a:rPr lang="en-US" sz="2250" b="1" dirty="0">
                <a:solidFill>
                  <a:srgbClr val="201E1D"/>
                </a:solidFill>
                <a:latin typeface="Arial" pitchFamily="34" charset="0"/>
                <a:ea typeface="Arial" pitchFamily="34" charset="-122"/>
                <a:cs typeface="Arial" pitchFamily="34" charset="-120"/>
              </a:rPr>
              <a:t>3. Template &amp; Render Pipeline</a:t>
            </a:r>
            <a:endParaRPr lang="en-US" sz="2250" dirty="0"/>
          </a:p>
        </p:txBody>
      </p:sp>
      <p:sp>
        <p:nvSpPr>
          <p:cNvPr id="13" name="Text 8"/>
          <p:cNvSpPr/>
          <p:nvPr/>
        </p:nvSpPr>
        <p:spPr>
          <a:xfrm>
            <a:off x="9372600" y="4098429"/>
            <a:ext cx="3816382" cy="1443722"/>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2150" dirty="0">
                <a:solidFill>
                  <a:srgbClr val="605D5D"/>
                </a:solidFill>
                <a:latin typeface="Arial" pitchFamily="34" charset="0"/>
                <a:ea typeface="Arial" pitchFamily="34" charset="-122"/>
                <a:cs typeface="Arial" pitchFamily="34" charset="-120"/>
              </a:rPr>
              <a:t>Built the Jinja2 section library and assembler producing live HTML/CSS/JS.</a:t>
            </a:r>
            <a:endParaRPr lang="en-US" sz="195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535025" y="2993529"/>
            <a:ext cx="419100" cy="419100"/>
          </a:xfrm>
          <a:prstGeom prst="rect">
            <a:avLst/>
          </a:prstGeom>
        </p:spPr>
      </p:pic>
      <p:sp>
        <p:nvSpPr>
          <p:cNvPr id="15" name="Text 9"/>
          <p:cNvSpPr/>
          <p:nvPr/>
        </p:nvSpPr>
        <p:spPr>
          <a:xfrm>
            <a:off x="13535025" y="3584079"/>
            <a:ext cx="4075748" cy="381000"/>
          </a:xfrm>
          <a:prstGeom prst="rect">
            <a:avLst/>
          </a:prstGeom>
          <a:noFill/>
          <a:ln/>
        </p:spPr>
        <p:txBody>
          <a:bodyPr wrap="square" lIns="25400" tIns="25400" rIns="25400" bIns="25400" rtlCol="0" anchor="t">
            <a:normAutofit fontScale="85000" lnSpcReduction="9000"/>
          </a:bodyPr>
          <a:lstStyle/>
          <a:p>
            <a:pPr marL="0" indent="0" algn="l">
              <a:lnSpc>
                <a:spcPct val="105882"/>
              </a:lnSpc>
              <a:buNone/>
            </a:pPr>
            <a:r>
              <a:rPr lang="en-US" sz="2250" b="1" dirty="0">
                <a:solidFill>
                  <a:srgbClr val="201E1D"/>
                </a:solidFill>
                <a:latin typeface="Arial" pitchFamily="34" charset="0"/>
                <a:ea typeface="Arial" pitchFamily="34" charset="-122"/>
                <a:cs typeface="Arial" pitchFamily="34" charset="-120"/>
              </a:rPr>
              <a:t>4. Preview, History &amp; Export</a:t>
            </a:r>
            <a:endParaRPr lang="en-US" sz="2250" dirty="0"/>
          </a:p>
        </p:txBody>
      </p:sp>
      <p:sp>
        <p:nvSpPr>
          <p:cNvPr id="16" name="Text 10"/>
          <p:cNvSpPr/>
          <p:nvPr/>
        </p:nvSpPr>
        <p:spPr>
          <a:xfrm>
            <a:off x="13535025" y="4098429"/>
            <a:ext cx="3816382" cy="1790343"/>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2150" dirty="0">
                <a:solidFill>
                  <a:srgbClr val="605D5D"/>
                </a:solidFill>
                <a:latin typeface="Arial" pitchFamily="34" charset="0"/>
                <a:ea typeface="Arial" pitchFamily="34" charset="-122"/>
                <a:cs typeface="Arial" pitchFamily="34" charset="-120"/>
              </a:rPr>
              <a:t>Wired up the sandboxed preview iframe, SQLite history, and ZIP export.</a:t>
            </a:r>
            <a:endParaRPr lang="en-US" sz="1950" dirty="0"/>
          </a:p>
        </p:txBody>
      </p:sp>
      <p:sp>
        <p:nvSpPr>
          <p:cNvPr id="17" name="Shape 11"/>
          <p:cNvSpPr/>
          <p:nvPr/>
        </p:nvSpPr>
        <p:spPr>
          <a:xfrm>
            <a:off x="1047750" y="7845028"/>
            <a:ext cx="16192500" cy="1603772"/>
          </a:xfrm>
          <a:prstGeom prst="rect">
            <a:avLst/>
          </a:prstGeom>
          <a:solidFill>
            <a:srgbClr val="EC3013"/>
          </a:solidFill>
          <a:ln/>
        </p:spPr>
        <p:txBody>
          <a:bodyPr/>
          <a:lstStyle/>
          <a:p>
            <a:endParaRPr lang="en-US"/>
          </a:p>
        </p:txBody>
      </p:sp>
      <p:sp>
        <p:nvSpPr>
          <p:cNvPr id="18" name="Text 12"/>
          <p:cNvSpPr/>
          <p:nvPr/>
        </p:nvSpPr>
        <p:spPr>
          <a:xfrm>
            <a:off x="1466850" y="8321278"/>
            <a:ext cx="1346850" cy="362843"/>
          </a:xfrm>
          <a:prstGeom prst="rect">
            <a:avLst/>
          </a:prstGeom>
          <a:noFill/>
          <a:ln/>
        </p:spPr>
        <p:txBody>
          <a:bodyPr wrap="none" lIns="25400" tIns="25400" rIns="25400" bIns="25400" rtlCol="0" anchor="t">
            <a:normAutofit/>
          </a:bodyPr>
          <a:lstStyle/>
          <a:p>
            <a:pPr marL="0" indent="0" algn="l">
              <a:lnSpc>
                <a:spcPct val="131154"/>
              </a:lnSpc>
              <a:buNone/>
            </a:pPr>
            <a:r>
              <a:rPr lang="en-US" sz="1650" kern="0" spc="165" dirty="0">
                <a:solidFill>
                  <a:srgbClr val="FFFFFF">
                    <a:alpha val="85000"/>
                  </a:srgbClr>
                </a:solidFill>
                <a:latin typeface="Arial" pitchFamily="34" charset="0"/>
                <a:ea typeface="Arial" pitchFamily="34" charset="-122"/>
                <a:cs typeface="Arial" pitchFamily="34" charset="-120"/>
              </a:rPr>
              <a:t>OUTCOME</a:t>
            </a:r>
            <a:endParaRPr lang="en-US" sz="1650" dirty="0"/>
          </a:p>
        </p:txBody>
      </p:sp>
      <p:sp>
        <p:nvSpPr>
          <p:cNvPr id="19" name="Text 13"/>
          <p:cNvSpPr/>
          <p:nvPr/>
        </p:nvSpPr>
        <p:spPr>
          <a:xfrm>
            <a:off x="3034159" y="8226028"/>
            <a:ext cx="14200601" cy="1154192"/>
          </a:xfrm>
          <a:prstGeom prst="rect">
            <a:avLst/>
          </a:prstGeom>
          <a:noFill/>
          <a:ln/>
        </p:spPr>
        <p:txBody>
          <a:bodyPr wrap="square" lIns="25400" tIns="25400" rIns="25400" bIns="25400" rtlCol="0" anchor="t">
            <a:normAutofit fontScale="92466" lnSpcReduction="4521"/>
          </a:bodyPr>
          <a:lstStyle/>
          <a:p>
            <a:pPr marL="0" indent="0" algn="l">
              <a:lnSpc>
                <a:spcPct val="113333"/>
              </a:lnSpc>
              <a:buNone/>
            </a:pPr>
            <a:r>
              <a:rPr lang="en-US" sz="2550" b="1" dirty="0">
                <a:solidFill>
                  <a:srgbClr val="FFFFFF"/>
                </a:solidFill>
                <a:latin typeface="Arial" pitchFamily="34" charset="0"/>
                <a:ea typeface="Arial" pitchFamily="34" charset="-122"/>
                <a:cs typeface="Arial" pitchFamily="34" charset="-120"/>
              </a:rPr>
              <a:t>A working Flask pipeline that turns a typed description into a previewable, editable, and exportable multi-section website in under half a second.</a:t>
            </a:r>
            <a:endParaRPr lang="en-US" sz="2550" dirty="0"/>
          </a:p>
        </p:txBody>
      </p:sp>
      <p:sp>
        <p:nvSpPr>
          <p:cNvPr id="20" name="Text 14"/>
          <p:cNvSpPr/>
          <p:nvPr/>
        </p:nvSpPr>
        <p:spPr>
          <a:xfrm>
            <a:off x="1047750" y="9572625"/>
            <a:ext cx="566243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AI WEBSITE BUILDER</a:t>
            </a:r>
            <a:endParaRPr lang="en-US" sz="1500" dirty="0"/>
          </a:p>
        </p:txBody>
      </p:sp>
      <p:sp>
        <p:nvSpPr>
          <p:cNvPr id="21" name="Text 15"/>
          <p:cNvSpPr/>
          <p:nvPr/>
        </p:nvSpPr>
        <p:spPr>
          <a:xfrm>
            <a:off x="17000786" y="9572625"/>
            <a:ext cx="31566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10</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kern="0" spc="180" dirty="0">
                <a:solidFill>
                  <a:srgbClr val="EC3013"/>
                </a:solidFill>
                <a:latin typeface="Arial" pitchFamily="34" charset="0"/>
                <a:ea typeface="Arial" pitchFamily="34" charset="-122"/>
                <a:cs typeface="Arial" pitchFamily="34" charset="-120"/>
              </a:rPr>
              <a:t>10 · FUTURE SCOPE</a:t>
            </a:r>
            <a:endParaRPr lang="en-US" sz="1800" dirty="0"/>
          </a:p>
        </p:txBody>
      </p:sp>
      <p:sp>
        <p:nvSpPr>
          <p:cNvPr id="3" name="Shape 1"/>
          <p:cNvSpPr/>
          <p:nvPr/>
        </p:nvSpPr>
        <p:spPr>
          <a:xfrm>
            <a:off x="1047750" y="1440061"/>
            <a:ext cx="16192500" cy="19050"/>
          </a:xfrm>
          <a:prstGeom prst="rect">
            <a:avLst/>
          </a:prstGeom>
          <a:solidFill>
            <a:srgbClr val="201E1E">
              <a:alpha val="40000"/>
            </a:srgbClr>
          </a:solidFill>
          <a:ln/>
        </p:spPr>
        <p:txBody>
          <a:bodyPr/>
          <a:lstStyle/>
          <a:p>
            <a:endParaRPr lang="en-US"/>
          </a:p>
        </p:txBody>
      </p:sp>
      <p:sp>
        <p:nvSpPr>
          <p:cNvPr id="4" name="Text 2"/>
          <p:cNvSpPr/>
          <p:nvPr/>
        </p:nvSpPr>
        <p:spPr>
          <a:xfrm>
            <a:off x="1047750" y="1840111"/>
            <a:ext cx="17811750" cy="658118"/>
          </a:xfrm>
          <a:prstGeom prst="rect">
            <a:avLst/>
          </a:prstGeom>
          <a:noFill/>
          <a:ln/>
        </p:spPr>
        <p:txBody>
          <a:bodyPr wrap="square" lIns="25400" tIns="25400" rIns="25400" bIns="25400" rtlCol="0" anchor="t">
            <a:normAutofit/>
          </a:bodyPr>
          <a:lstStyle/>
          <a:p>
            <a:pPr marL="0" indent="0" algn="l">
              <a:lnSpc>
                <a:spcPct val="91690"/>
              </a:lnSpc>
              <a:buNone/>
            </a:pPr>
            <a:r>
              <a:rPr lang="en-US" sz="4650" b="1" kern="0" spc="-93" dirty="0">
                <a:solidFill>
                  <a:srgbClr val="201E1D"/>
                </a:solidFill>
                <a:latin typeface="Arial" pitchFamily="34" charset="0"/>
                <a:ea typeface="Arial" pitchFamily="34" charset="-122"/>
                <a:cs typeface="Arial" pitchFamily="34" charset="-120"/>
              </a:rPr>
              <a:t>Future Scope &amp; Enhancements</a:t>
            </a:r>
            <a:endParaRPr lang="en-US" sz="4650" dirty="0"/>
          </a:p>
        </p:txBody>
      </p:sp>
      <p:sp>
        <p:nvSpPr>
          <p:cNvPr id="5" name="Shape 3"/>
          <p:cNvSpPr/>
          <p:nvPr/>
        </p:nvSpPr>
        <p:spPr>
          <a:xfrm>
            <a:off x="1047750" y="2917329"/>
            <a:ext cx="16192500" cy="19050"/>
          </a:xfrm>
          <a:prstGeom prst="rect">
            <a:avLst/>
          </a:prstGeom>
          <a:solidFill>
            <a:srgbClr val="201E1E">
              <a:alpha val="40000"/>
            </a:srgbClr>
          </a:solidFill>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50" y="3210669"/>
            <a:ext cx="419100" cy="419100"/>
          </a:xfrm>
          <a:prstGeom prst="rect">
            <a:avLst/>
          </a:prstGeom>
        </p:spPr>
      </p:pic>
      <p:sp>
        <p:nvSpPr>
          <p:cNvPr id="7" name="Text 4"/>
          <p:cNvSpPr/>
          <p:nvPr/>
        </p:nvSpPr>
        <p:spPr>
          <a:xfrm>
            <a:off x="1771650" y="3184029"/>
            <a:ext cx="3981450" cy="510480"/>
          </a:xfrm>
          <a:prstGeom prst="rect">
            <a:avLst/>
          </a:prstGeom>
          <a:noFill/>
          <a:ln/>
        </p:spPr>
        <p:txBody>
          <a:bodyPr wrap="square" lIns="25400" tIns="25400" rIns="25400" bIns="25400" rtlCol="0" anchor="t">
            <a:normAutofit fontScale="85000" lnSpcReduction="9000"/>
          </a:bodyPr>
          <a:lstStyle/>
          <a:p>
            <a:pPr marL="0" indent="0" algn="l">
              <a:lnSpc>
                <a:spcPct val="134054"/>
              </a:lnSpc>
              <a:buNone/>
            </a:pPr>
            <a:r>
              <a:rPr lang="en-US" sz="1800" b="1" dirty="0">
                <a:solidFill>
                  <a:srgbClr val="201E1D"/>
                </a:solidFill>
                <a:latin typeface="Arial" pitchFamily="34" charset="0"/>
                <a:ea typeface="Arial" pitchFamily="34" charset="-122"/>
                <a:cs typeface="Arial" pitchFamily="34" charset="-120"/>
              </a:rPr>
              <a:t>Larger Labelled Dataset</a:t>
            </a:r>
            <a:endParaRPr lang="en-US" sz="2400" dirty="0"/>
          </a:p>
        </p:txBody>
      </p:sp>
      <p:sp>
        <p:nvSpPr>
          <p:cNvPr id="8" name="Text 5"/>
          <p:cNvSpPr/>
          <p:nvPr/>
        </p:nvSpPr>
        <p:spPr>
          <a:xfrm>
            <a:off x="5695950" y="3246834"/>
            <a:ext cx="12698730" cy="384721"/>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1800" dirty="0">
                <a:solidFill>
                  <a:srgbClr val="605D5D"/>
                </a:solidFill>
                <a:latin typeface="Arial" pitchFamily="34" charset="0"/>
                <a:ea typeface="Arial" pitchFamily="34" charset="-122"/>
                <a:cs typeface="Arial" pitchFamily="34" charset="-120"/>
              </a:rPr>
              <a:t>Expand the hand-labelled prompt set to improve accuracy on thin classes like blog and education.</a:t>
            </a:r>
            <a:endParaRPr lang="en-US" sz="1950" dirty="0"/>
          </a:p>
        </p:txBody>
      </p:sp>
      <p:sp>
        <p:nvSpPr>
          <p:cNvPr id="9" name="Shape 6"/>
          <p:cNvSpPr/>
          <p:nvPr/>
        </p:nvSpPr>
        <p:spPr>
          <a:xfrm>
            <a:off x="1047750" y="3904059"/>
            <a:ext cx="16192500" cy="19050"/>
          </a:xfrm>
          <a:prstGeom prst="rect">
            <a:avLst/>
          </a:prstGeom>
          <a:solidFill>
            <a:srgbClr val="201E1E">
              <a:alpha val="40000"/>
            </a:srgbClr>
          </a:solidFill>
          <a:ln/>
        </p:spPr>
        <p:txBody>
          <a:bodyPr/>
          <a:lstStyle/>
          <a:p>
            <a:endParaRPr lang="en-US"/>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750" y="4433590"/>
            <a:ext cx="419100" cy="419100"/>
          </a:xfrm>
          <a:prstGeom prst="rect">
            <a:avLst/>
          </a:prstGeom>
        </p:spPr>
      </p:pic>
      <p:sp>
        <p:nvSpPr>
          <p:cNvPr id="11" name="Text 7"/>
          <p:cNvSpPr/>
          <p:nvPr/>
        </p:nvSpPr>
        <p:spPr>
          <a:xfrm>
            <a:off x="1771650" y="4170759"/>
            <a:ext cx="3728085" cy="982861"/>
          </a:xfrm>
          <a:prstGeom prst="rect">
            <a:avLst/>
          </a:prstGeom>
          <a:noFill/>
          <a:ln/>
        </p:spPr>
        <p:txBody>
          <a:bodyPr wrap="square" lIns="25400" tIns="25400" rIns="25400" bIns="25400" rtlCol="0" anchor="t">
            <a:normAutofit fontScale="85000" lnSpcReduction="9000"/>
          </a:bodyPr>
          <a:lstStyle/>
          <a:p>
            <a:pPr marL="0" indent="0" algn="l">
              <a:lnSpc>
                <a:spcPct val="134054"/>
              </a:lnSpc>
              <a:buNone/>
            </a:pPr>
            <a:r>
              <a:rPr lang="en-US" sz="1800" b="1" dirty="0">
                <a:solidFill>
                  <a:srgbClr val="201E1D"/>
                </a:solidFill>
                <a:latin typeface="Arial" pitchFamily="34" charset="0"/>
                <a:ea typeface="Arial" pitchFamily="34" charset="-122"/>
                <a:cs typeface="Arial" pitchFamily="34" charset="-120"/>
              </a:rPr>
              <a:t>Richer Template Variety</a:t>
            </a:r>
            <a:endParaRPr lang="en-US" sz="2400" dirty="0"/>
          </a:p>
        </p:txBody>
      </p:sp>
      <p:sp>
        <p:nvSpPr>
          <p:cNvPr id="12" name="Text 8"/>
          <p:cNvSpPr/>
          <p:nvPr/>
        </p:nvSpPr>
        <p:spPr>
          <a:xfrm>
            <a:off x="5695950" y="4469755"/>
            <a:ext cx="12698730" cy="384721"/>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1800" dirty="0">
                <a:solidFill>
                  <a:srgbClr val="605D5D"/>
                </a:solidFill>
                <a:latin typeface="Arial" pitchFamily="34" charset="0"/>
                <a:ea typeface="Arial" pitchFamily="34" charset="-122"/>
                <a:cs typeface="Arial" pitchFamily="34" charset="-120"/>
              </a:rPr>
              <a:t>Add more section layouts per site type to reduce visual sameness between similar sites.</a:t>
            </a:r>
            <a:endParaRPr lang="en-US" sz="1950" dirty="0"/>
          </a:p>
        </p:txBody>
      </p:sp>
      <p:sp>
        <p:nvSpPr>
          <p:cNvPr id="13" name="Shape 9"/>
          <p:cNvSpPr/>
          <p:nvPr/>
        </p:nvSpPr>
        <p:spPr>
          <a:xfrm>
            <a:off x="1047750" y="5363170"/>
            <a:ext cx="16192500" cy="19050"/>
          </a:xfrm>
          <a:prstGeom prst="rect">
            <a:avLst/>
          </a:prstGeom>
          <a:solidFill>
            <a:srgbClr val="201E1E">
              <a:alpha val="40000"/>
            </a:srgbClr>
          </a:solidFill>
          <a:ln/>
        </p:spPr>
        <p:txBody>
          <a:bodyPr/>
          <a:lstStyle/>
          <a:p>
            <a:endParaRPr lang="en-US"/>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7750" y="5656511"/>
            <a:ext cx="419100" cy="419100"/>
          </a:xfrm>
          <a:prstGeom prst="rect">
            <a:avLst/>
          </a:prstGeom>
        </p:spPr>
      </p:pic>
      <p:sp>
        <p:nvSpPr>
          <p:cNvPr id="15" name="Text 10"/>
          <p:cNvSpPr/>
          <p:nvPr/>
        </p:nvSpPr>
        <p:spPr>
          <a:xfrm>
            <a:off x="1771650" y="5629870"/>
            <a:ext cx="3981450" cy="510480"/>
          </a:xfrm>
          <a:prstGeom prst="rect">
            <a:avLst/>
          </a:prstGeom>
          <a:noFill/>
          <a:ln/>
        </p:spPr>
        <p:txBody>
          <a:bodyPr wrap="square" lIns="25400" tIns="25400" rIns="25400" bIns="25400" rtlCol="0" anchor="t">
            <a:normAutofit fontScale="85000" lnSpcReduction="9000"/>
          </a:bodyPr>
          <a:lstStyle/>
          <a:p>
            <a:pPr marL="0" indent="0" algn="l">
              <a:lnSpc>
                <a:spcPct val="134054"/>
              </a:lnSpc>
              <a:buNone/>
            </a:pPr>
            <a:r>
              <a:rPr lang="en-US" sz="1800" b="1" dirty="0">
                <a:solidFill>
                  <a:srgbClr val="201E1D"/>
                </a:solidFill>
                <a:latin typeface="Arial" pitchFamily="34" charset="0"/>
                <a:ea typeface="Arial" pitchFamily="34" charset="-122"/>
                <a:cs typeface="Arial" pitchFamily="34" charset="-120"/>
              </a:rPr>
              <a:t>Smarter Slot Extraction</a:t>
            </a:r>
            <a:endParaRPr lang="en-US" sz="2400" dirty="0"/>
          </a:p>
        </p:txBody>
      </p:sp>
      <p:sp>
        <p:nvSpPr>
          <p:cNvPr id="16" name="Text 11"/>
          <p:cNvSpPr/>
          <p:nvPr/>
        </p:nvSpPr>
        <p:spPr>
          <a:xfrm>
            <a:off x="5695950" y="5692676"/>
            <a:ext cx="12698730" cy="384721"/>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1800" dirty="0">
                <a:solidFill>
                  <a:srgbClr val="605D5D"/>
                </a:solidFill>
                <a:latin typeface="Arial" pitchFamily="34" charset="0"/>
                <a:ea typeface="Arial" pitchFamily="34" charset="-122"/>
                <a:cs typeface="Arial" pitchFamily="34" charset="-120"/>
              </a:rPr>
              <a:t>Move beyond fixed regex patterns to catch names and contacts phrased unconventionally.</a:t>
            </a:r>
            <a:endParaRPr lang="en-US" sz="1950" dirty="0"/>
          </a:p>
        </p:txBody>
      </p:sp>
      <p:sp>
        <p:nvSpPr>
          <p:cNvPr id="17" name="Shape 12"/>
          <p:cNvSpPr/>
          <p:nvPr/>
        </p:nvSpPr>
        <p:spPr>
          <a:xfrm>
            <a:off x="1047750" y="6349901"/>
            <a:ext cx="16192500" cy="19050"/>
          </a:xfrm>
          <a:prstGeom prst="rect">
            <a:avLst/>
          </a:prstGeom>
          <a:solidFill>
            <a:srgbClr val="201E1E">
              <a:alpha val="40000"/>
            </a:srgbClr>
          </a:solidFill>
          <a:ln/>
        </p:spPr>
        <p:txBody>
          <a:bodyPr/>
          <a:lstStyle/>
          <a:p>
            <a:endParaRPr lang="en-US"/>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7750" y="6643241"/>
            <a:ext cx="419100" cy="419100"/>
          </a:xfrm>
          <a:prstGeom prst="rect">
            <a:avLst/>
          </a:prstGeom>
        </p:spPr>
      </p:pic>
      <p:sp>
        <p:nvSpPr>
          <p:cNvPr id="19" name="Text 13"/>
          <p:cNvSpPr/>
          <p:nvPr/>
        </p:nvSpPr>
        <p:spPr>
          <a:xfrm>
            <a:off x="1771650" y="6616601"/>
            <a:ext cx="3981450" cy="510480"/>
          </a:xfrm>
          <a:prstGeom prst="rect">
            <a:avLst/>
          </a:prstGeom>
          <a:noFill/>
          <a:ln/>
        </p:spPr>
        <p:txBody>
          <a:bodyPr wrap="square" lIns="25400" tIns="25400" rIns="25400" bIns="25400" rtlCol="0" anchor="t">
            <a:normAutofit fontScale="85000" lnSpcReduction="9000"/>
          </a:bodyPr>
          <a:lstStyle/>
          <a:p>
            <a:pPr marL="0" indent="0" algn="l">
              <a:lnSpc>
                <a:spcPct val="134054"/>
              </a:lnSpc>
              <a:buNone/>
            </a:pPr>
            <a:r>
              <a:rPr lang="en-US" sz="1800" b="1" dirty="0">
                <a:solidFill>
                  <a:srgbClr val="201E1D"/>
                </a:solidFill>
                <a:latin typeface="Arial" pitchFamily="34" charset="0"/>
                <a:ea typeface="Arial" pitchFamily="34" charset="-122"/>
                <a:cs typeface="Arial" pitchFamily="34" charset="-120"/>
              </a:rPr>
              <a:t>Optional Cloud Hosting</a:t>
            </a:r>
            <a:endParaRPr lang="en-US" sz="2400" dirty="0"/>
          </a:p>
        </p:txBody>
      </p:sp>
      <p:sp>
        <p:nvSpPr>
          <p:cNvPr id="20" name="Text 14"/>
          <p:cNvSpPr/>
          <p:nvPr/>
        </p:nvSpPr>
        <p:spPr>
          <a:xfrm>
            <a:off x="5695950" y="6679406"/>
            <a:ext cx="12698730" cy="384721"/>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1800" dirty="0">
                <a:solidFill>
                  <a:srgbClr val="605D5D"/>
                </a:solidFill>
                <a:latin typeface="Arial" pitchFamily="34" charset="0"/>
                <a:ea typeface="Arial" pitchFamily="34" charset="-122"/>
                <a:cs typeface="Arial" pitchFamily="34" charset="-120"/>
              </a:rPr>
              <a:t>Add an opt-in deployment path for users who want their exported site live on the web.</a:t>
            </a:r>
            <a:endParaRPr lang="en-US" sz="1950" dirty="0"/>
          </a:p>
        </p:txBody>
      </p:sp>
      <p:sp>
        <p:nvSpPr>
          <p:cNvPr id="21" name="Shape 15"/>
          <p:cNvSpPr/>
          <p:nvPr/>
        </p:nvSpPr>
        <p:spPr>
          <a:xfrm>
            <a:off x="1047750" y="8323362"/>
            <a:ext cx="16192500" cy="19050"/>
          </a:xfrm>
          <a:prstGeom prst="rect">
            <a:avLst/>
          </a:prstGeom>
          <a:solidFill>
            <a:srgbClr val="201E1E">
              <a:alpha val="40000"/>
            </a:srgbClr>
          </a:solidFill>
          <a:ln/>
        </p:spPr>
        <p:txBody>
          <a:bodyPr/>
          <a:lstStyle/>
          <a:p>
            <a:endParaRPr lang="en-US"/>
          </a:p>
        </p:txBody>
      </p:sp>
      <p:sp>
        <p:nvSpPr>
          <p:cNvPr id="22" name="Shape 16"/>
          <p:cNvSpPr/>
          <p:nvPr/>
        </p:nvSpPr>
        <p:spPr>
          <a:xfrm>
            <a:off x="1047750" y="7336631"/>
            <a:ext cx="16192500" cy="19050"/>
          </a:xfrm>
          <a:prstGeom prst="rect">
            <a:avLst/>
          </a:prstGeom>
          <a:solidFill>
            <a:srgbClr val="201E1E">
              <a:alpha val="40000"/>
            </a:srgbClr>
          </a:solidFill>
          <a:ln/>
        </p:spPr>
        <p:txBody>
          <a:bodyPr/>
          <a:lstStyle/>
          <a:p>
            <a:endParaRPr lang="en-US"/>
          </a:p>
        </p:txBody>
      </p:sp>
      <p:pic>
        <p:nvPicPr>
          <p:cNvPr id="2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7750" y="7629971"/>
            <a:ext cx="419100" cy="419100"/>
          </a:xfrm>
          <a:prstGeom prst="rect">
            <a:avLst/>
          </a:prstGeom>
        </p:spPr>
      </p:pic>
      <p:sp>
        <p:nvSpPr>
          <p:cNvPr id="24" name="Text 17"/>
          <p:cNvSpPr/>
          <p:nvPr/>
        </p:nvSpPr>
        <p:spPr>
          <a:xfrm>
            <a:off x="1771650" y="7603331"/>
            <a:ext cx="3981450" cy="510480"/>
          </a:xfrm>
          <a:prstGeom prst="rect">
            <a:avLst/>
          </a:prstGeom>
          <a:noFill/>
          <a:ln/>
        </p:spPr>
        <p:txBody>
          <a:bodyPr wrap="square" lIns="25400" tIns="25400" rIns="25400" bIns="25400" rtlCol="0" anchor="t">
            <a:normAutofit fontScale="85000" lnSpcReduction="9000"/>
          </a:bodyPr>
          <a:lstStyle/>
          <a:p>
            <a:pPr marL="0" indent="0" algn="l">
              <a:lnSpc>
                <a:spcPct val="134054"/>
              </a:lnSpc>
              <a:buNone/>
            </a:pPr>
            <a:r>
              <a:rPr lang="en-US" sz="1800" b="1" dirty="0">
                <a:solidFill>
                  <a:srgbClr val="201E1D"/>
                </a:solidFill>
                <a:latin typeface="Arial" pitchFamily="34" charset="0"/>
                <a:ea typeface="Arial" pitchFamily="34" charset="-122"/>
                <a:cs typeface="Arial" pitchFamily="34" charset="-120"/>
              </a:rPr>
              <a:t>Multi-User Accounts</a:t>
            </a:r>
            <a:endParaRPr lang="en-US" sz="2400" dirty="0"/>
          </a:p>
        </p:txBody>
      </p:sp>
      <p:sp>
        <p:nvSpPr>
          <p:cNvPr id="25" name="Text 18"/>
          <p:cNvSpPr/>
          <p:nvPr/>
        </p:nvSpPr>
        <p:spPr>
          <a:xfrm>
            <a:off x="5695950" y="7666137"/>
            <a:ext cx="12698730" cy="384721"/>
          </a:xfrm>
          <a:prstGeom prst="rect">
            <a:avLst/>
          </a:prstGeom>
          <a:noFill/>
          <a:ln/>
        </p:spPr>
        <p:txBody>
          <a:bodyPr wrap="square" lIns="25400" tIns="25400" rIns="25400" bIns="25400" rtlCol="0" anchor="t">
            <a:normAutofit fontScale="85000" lnSpcReduction="9000"/>
          </a:bodyPr>
          <a:lstStyle/>
          <a:p>
            <a:pPr marL="0" indent="0" algn="l">
              <a:lnSpc>
                <a:spcPct val="117419"/>
              </a:lnSpc>
              <a:buNone/>
            </a:pPr>
            <a:r>
              <a:rPr lang="en-US" sz="1800" dirty="0">
                <a:solidFill>
                  <a:srgbClr val="605D5D"/>
                </a:solidFill>
                <a:latin typeface="Arial" pitchFamily="34" charset="0"/>
                <a:ea typeface="Arial" pitchFamily="34" charset="-122"/>
                <a:cs typeface="Arial" pitchFamily="34" charset="-120"/>
              </a:rPr>
              <a:t>Introduce login and per-user project storage beyond the single-user local scope.</a:t>
            </a:r>
            <a:endParaRPr lang="en-US" sz="1950" dirty="0"/>
          </a:p>
        </p:txBody>
      </p:sp>
      <p:sp>
        <p:nvSpPr>
          <p:cNvPr id="26" name="Text 19"/>
          <p:cNvSpPr/>
          <p:nvPr/>
        </p:nvSpPr>
        <p:spPr>
          <a:xfrm>
            <a:off x="1047750" y="9572625"/>
            <a:ext cx="566243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AI WEBSITE BUILDER</a:t>
            </a:r>
            <a:endParaRPr lang="en-US" sz="1500" dirty="0"/>
          </a:p>
        </p:txBody>
      </p:sp>
      <p:sp>
        <p:nvSpPr>
          <p:cNvPr id="27" name="Text 20"/>
          <p:cNvSpPr/>
          <p:nvPr/>
        </p:nvSpPr>
        <p:spPr>
          <a:xfrm>
            <a:off x="17000786" y="9572625"/>
            <a:ext cx="31566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11</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2F2"/>
        </a:solidFill>
        <a:effectLst/>
      </p:bgPr>
    </p:bg>
    <p:spTree>
      <p:nvGrpSpPr>
        <p:cNvPr id="1" name=""/>
        <p:cNvGrpSpPr/>
        <p:nvPr/>
      </p:nvGrpSpPr>
      <p:grpSpPr>
        <a:xfrm>
          <a:off x="0" y="0"/>
          <a:ext cx="0" cy="0"/>
          <a:chOff x="0" y="0"/>
          <a:chExt cx="0" cy="0"/>
        </a:xfrm>
      </p:grpSpPr>
      <p:sp>
        <p:nvSpPr>
          <p:cNvPr id="2" name="Text 0"/>
          <p:cNvSpPr/>
          <p:nvPr/>
        </p:nvSpPr>
        <p:spPr>
          <a:xfrm>
            <a:off x="1047750" y="838200"/>
            <a:ext cx="17811750" cy="392311"/>
          </a:xfrm>
          <a:prstGeom prst="rect">
            <a:avLst/>
          </a:prstGeom>
          <a:noFill/>
          <a:ln/>
        </p:spPr>
        <p:txBody>
          <a:bodyPr wrap="square" lIns="25400" tIns="25400" rIns="25400" bIns="25400" rtlCol="0" anchor="t">
            <a:normAutofit/>
          </a:bodyPr>
          <a:lstStyle/>
          <a:p>
            <a:pPr marL="0" indent="0" algn="l">
              <a:lnSpc>
                <a:spcPct val="132857"/>
              </a:lnSpc>
              <a:buNone/>
            </a:pPr>
            <a:r>
              <a:rPr lang="en-US" sz="1800" b="1" kern="0" spc="180" dirty="0">
                <a:solidFill>
                  <a:srgbClr val="EC3013"/>
                </a:solidFill>
                <a:latin typeface="Arial" pitchFamily="34" charset="0"/>
                <a:ea typeface="Arial" pitchFamily="34" charset="-122"/>
                <a:cs typeface="Arial" pitchFamily="34" charset="-120"/>
              </a:rPr>
              <a:t>11 · CONCLUSION</a:t>
            </a:r>
            <a:endParaRPr lang="en-US" sz="1800" dirty="0"/>
          </a:p>
        </p:txBody>
      </p:sp>
      <p:sp>
        <p:nvSpPr>
          <p:cNvPr id="3" name="Shape 1"/>
          <p:cNvSpPr/>
          <p:nvPr/>
        </p:nvSpPr>
        <p:spPr>
          <a:xfrm>
            <a:off x="1047750" y="1440061"/>
            <a:ext cx="16192500" cy="19050"/>
          </a:xfrm>
          <a:prstGeom prst="rect">
            <a:avLst/>
          </a:prstGeom>
          <a:solidFill>
            <a:srgbClr val="201E1E">
              <a:alpha val="40000"/>
            </a:srgbClr>
          </a:solidFill>
          <a:ln/>
        </p:spPr>
        <p:txBody>
          <a:bodyPr/>
          <a:lstStyle/>
          <a:p>
            <a:endParaRPr lang="en-US"/>
          </a:p>
        </p:txBody>
      </p:sp>
      <p:sp>
        <p:nvSpPr>
          <p:cNvPr id="4" name="Text 2"/>
          <p:cNvSpPr/>
          <p:nvPr/>
        </p:nvSpPr>
        <p:spPr>
          <a:xfrm>
            <a:off x="1047750" y="1840111"/>
            <a:ext cx="17811750" cy="658118"/>
          </a:xfrm>
          <a:prstGeom prst="rect">
            <a:avLst/>
          </a:prstGeom>
          <a:noFill/>
          <a:ln/>
        </p:spPr>
        <p:txBody>
          <a:bodyPr wrap="square" lIns="25400" tIns="25400" rIns="25400" bIns="25400" rtlCol="0" anchor="t">
            <a:normAutofit/>
          </a:bodyPr>
          <a:lstStyle/>
          <a:p>
            <a:pPr marL="0" indent="0" algn="l">
              <a:lnSpc>
                <a:spcPct val="91690"/>
              </a:lnSpc>
              <a:buNone/>
            </a:pPr>
            <a:r>
              <a:rPr lang="en-US" sz="4650" b="1" kern="0" spc="-93" dirty="0">
                <a:solidFill>
                  <a:srgbClr val="201E1D"/>
                </a:solidFill>
                <a:latin typeface="Arial" pitchFamily="34" charset="0"/>
                <a:ea typeface="Arial" pitchFamily="34" charset="-122"/>
                <a:cs typeface="Arial" pitchFamily="34" charset="-120"/>
              </a:rPr>
              <a:t>Conclusion</a:t>
            </a:r>
            <a:endParaRPr lang="en-US" sz="4650" dirty="0"/>
          </a:p>
        </p:txBody>
      </p:sp>
      <p:sp>
        <p:nvSpPr>
          <p:cNvPr id="5" name="Text 3"/>
          <p:cNvSpPr/>
          <p:nvPr/>
        </p:nvSpPr>
        <p:spPr>
          <a:xfrm>
            <a:off x="1047750" y="2841129"/>
            <a:ext cx="14716125" cy="866775"/>
          </a:xfrm>
          <a:prstGeom prst="rect">
            <a:avLst/>
          </a:prstGeom>
          <a:noFill/>
          <a:ln/>
        </p:spPr>
        <p:txBody>
          <a:bodyPr wrap="square" lIns="25400" tIns="25400" rIns="25400" bIns="25400" rtlCol="0" anchor="t">
            <a:normAutofit fontScale="85000" lnSpcReduction="9000"/>
          </a:bodyPr>
          <a:lstStyle/>
          <a:p>
            <a:pPr marL="0" indent="0" algn="l">
              <a:lnSpc>
                <a:spcPct val="127941"/>
              </a:lnSpc>
              <a:buNone/>
            </a:pPr>
            <a:r>
              <a:rPr lang="en-US" sz="2250" dirty="0">
                <a:solidFill>
                  <a:srgbClr val="201E1D"/>
                </a:solidFill>
                <a:latin typeface="Arial" pitchFamily="34" charset="0"/>
                <a:ea typeface="Arial" pitchFamily="34" charset="-122"/>
                <a:cs typeface="Arial" pitchFamily="34" charset="-120"/>
              </a:rPr>
              <a:t>The project delivers a working local AI Website Builder that turns a plain-English prompt into a themed, responsive, exportable website using lightweight, fully explainable ML and rule-based logic in place of the base paper's transformer/RL pipeline.</a:t>
            </a:r>
            <a:endParaRPr lang="en-US" sz="2250" dirty="0"/>
          </a:p>
        </p:txBody>
      </p:sp>
      <p:sp>
        <p:nvSpPr>
          <p:cNvPr id="6" name="Shape 4"/>
          <p:cNvSpPr/>
          <p:nvPr/>
        </p:nvSpPr>
        <p:spPr>
          <a:xfrm>
            <a:off x="1047750" y="4088904"/>
            <a:ext cx="7810500" cy="19050"/>
          </a:xfrm>
          <a:prstGeom prst="rect">
            <a:avLst/>
          </a:prstGeom>
          <a:solidFill>
            <a:srgbClr val="201E1E">
              <a:alpha val="40000"/>
            </a:srgbClr>
          </a:solidFill>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750" y="4355604"/>
            <a:ext cx="266700" cy="266700"/>
          </a:xfrm>
          <a:prstGeom prst="rect">
            <a:avLst/>
          </a:prstGeom>
        </p:spPr>
      </p:pic>
      <p:sp>
        <p:nvSpPr>
          <p:cNvPr id="8" name="Text 5"/>
          <p:cNvSpPr/>
          <p:nvPr/>
        </p:nvSpPr>
        <p:spPr>
          <a:xfrm>
            <a:off x="1504950" y="4298454"/>
            <a:ext cx="7573899" cy="731341"/>
          </a:xfrm>
          <a:prstGeom prst="rect">
            <a:avLst/>
          </a:prstGeom>
          <a:noFill/>
          <a:ln/>
        </p:spPr>
        <p:txBody>
          <a:bodyPr wrap="square" lIns="25400" tIns="25400" rIns="25400" bIns="25400" rtlCol="0" anchor="t">
            <a:normAutofit fontScale="86905" lnSpcReduction="7857"/>
          </a:bodyPr>
          <a:lstStyle/>
          <a:p>
            <a:pPr marL="0" indent="0" algn="l">
              <a:lnSpc>
                <a:spcPct val="117419"/>
              </a:lnSpc>
              <a:buNone/>
            </a:pPr>
            <a:r>
              <a:rPr lang="en-US" sz="1950" dirty="0">
                <a:solidFill>
                  <a:srgbClr val="201E1D"/>
                </a:solidFill>
                <a:latin typeface="Arial" pitchFamily="34" charset="0"/>
                <a:ea typeface="Arial" pitchFamily="34" charset="-122"/>
                <a:cs typeface="Arial" pitchFamily="34" charset="-120"/>
              </a:rPr>
              <a:t>Two scikit-learn classifiers reliably predict site type and sections from free text.</a:t>
            </a:r>
            <a:endParaRPr lang="en-US" sz="1950" dirty="0"/>
          </a:p>
        </p:txBody>
      </p:sp>
      <p:sp>
        <p:nvSpPr>
          <p:cNvPr id="9" name="Shape 6"/>
          <p:cNvSpPr/>
          <p:nvPr/>
        </p:nvSpPr>
        <p:spPr>
          <a:xfrm>
            <a:off x="9429750" y="4088904"/>
            <a:ext cx="7810500" cy="19050"/>
          </a:xfrm>
          <a:prstGeom prst="rect">
            <a:avLst/>
          </a:prstGeom>
          <a:solidFill>
            <a:srgbClr val="201E1E">
              <a:alpha val="40000"/>
            </a:srgbClr>
          </a:solidFill>
          <a:ln/>
        </p:spPr>
        <p:txBody>
          <a:bodyPr/>
          <a:lstStyle/>
          <a:p>
            <a:endParaRPr lang="en-US"/>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29750" y="4355604"/>
            <a:ext cx="266700" cy="266700"/>
          </a:xfrm>
          <a:prstGeom prst="rect">
            <a:avLst/>
          </a:prstGeom>
        </p:spPr>
      </p:pic>
      <p:sp>
        <p:nvSpPr>
          <p:cNvPr id="11" name="Text 7"/>
          <p:cNvSpPr/>
          <p:nvPr/>
        </p:nvSpPr>
        <p:spPr>
          <a:xfrm>
            <a:off x="9886950" y="4298454"/>
            <a:ext cx="7573899" cy="731341"/>
          </a:xfrm>
          <a:prstGeom prst="rect">
            <a:avLst/>
          </a:prstGeom>
          <a:noFill/>
          <a:ln/>
        </p:spPr>
        <p:txBody>
          <a:bodyPr wrap="square" lIns="25400" tIns="25400" rIns="25400" bIns="25400" rtlCol="0" anchor="t">
            <a:normAutofit fontScale="86905" lnSpcReduction="7857"/>
          </a:bodyPr>
          <a:lstStyle/>
          <a:p>
            <a:pPr marL="0" indent="0" algn="l">
              <a:lnSpc>
                <a:spcPct val="117419"/>
              </a:lnSpc>
              <a:buNone/>
            </a:pPr>
            <a:r>
              <a:rPr lang="en-US" sz="1950" dirty="0">
                <a:solidFill>
                  <a:srgbClr val="201E1D"/>
                </a:solidFill>
                <a:latin typeface="Arial" pitchFamily="34" charset="0"/>
                <a:ea typeface="Arial" pitchFamily="34" charset="-122"/>
                <a:cs typeface="Arial" pitchFamily="34" charset="-120"/>
              </a:rPr>
              <a:t>Rule-based extraction and theming fill in name, contact, and style details.</a:t>
            </a:r>
            <a:endParaRPr lang="en-US" sz="1950" dirty="0"/>
          </a:p>
        </p:txBody>
      </p:sp>
      <p:sp>
        <p:nvSpPr>
          <p:cNvPr id="12" name="Shape 8"/>
          <p:cNvSpPr/>
          <p:nvPr/>
        </p:nvSpPr>
        <p:spPr>
          <a:xfrm>
            <a:off x="1047750" y="5220295"/>
            <a:ext cx="7810500" cy="19050"/>
          </a:xfrm>
          <a:prstGeom prst="rect">
            <a:avLst/>
          </a:prstGeom>
          <a:solidFill>
            <a:srgbClr val="201E1E">
              <a:alpha val="40000"/>
            </a:srgbClr>
          </a:solidFill>
          <a:ln/>
        </p:spPr>
        <p:txBody>
          <a:bodyPr/>
          <a:lstStyle/>
          <a:p>
            <a:endParaRPr lang="en-US"/>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7750" y="5486995"/>
            <a:ext cx="266700" cy="266700"/>
          </a:xfrm>
          <a:prstGeom prst="rect">
            <a:avLst/>
          </a:prstGeom>
        </p:spPr>
      </p:pic>
      <p:sp>
        <p:nvSpPr>
          <p:cNvPr id="14" name="Text 9"/>
          <p:cNvSpPr/>
          <p:nvPr/>
        </p:nvSpPr>
        <p:spPr>
          <a:xfrm>
            <a:off x="1504950" y="5429845"/>
            <a:ext cx="7573899" cy="1097101"/>
          </a:xfrm>
          <a:prstGeom prst="rect">
            <a:avLst/>
          </a:prstGeom>
          <a:noFill/>
          <a:ln/>
        </p:spPr>
        <p:txBody>
          <a:bodyPr wrap="square" lIns="25400" tIns="25400" rIns="25400" bIns="25400" rtlCol="0" anchor="t">
            <a:normAutofit fontScale="86905" lnSpcReduction="7857"/>
          </a:bodyPr>
          <a:lstStyle/>
          <a:p>
            <a:pPr marL="0" indent="0" algn="l">
              <a:lnSpc>
                <a:spcPct val="117419"/>
              </a:lnSpc>
              <a:buNone/>
            </a:pPr>
            <a:r>
              <a:rPr lang="en-US" sz="1950" dirty="0">
                <a:solidFill>
                  <a:srgbClr val="201E1D"/>
                </a:solidFill>
                <a:latin typeface="Arial" pitchFamily="34" charset="0"/>
                <a:ea typeface="Arial" pitchFamily="34" charset="-122"/>
                <a:cs typeface="Arial" pitchFamily="34" charset="-120"/>
              </a:rPr>
              <a:t>Live preview renders a complete responsive site in milliseconds.</a:t>
            </a:r>
            <a:endParaRPr lang="en-US" sz="1950" dirty="0"/>
          </a:p>
        </p:txBody>
      </p:sp>
      <p:sp>
        <p:nvSpPr>
          <p:cNvPr id="15" name="Shape 10"/>
          <p:cNvSpPr/>
          <p:nvPr/>
        </p:nvSpPr>
        <p:spPr>
          <a:xfrm>
            <a:off x="9429750" y="5220295"/>
            <a:ext cx="7810500" cy="19050"/>
          </a:xfrm>
          <a:prstGeom prst="rect">
            <a:avLst/>
          </a:prstGeom>
          <a:solidFill>
            <a:srgbClr val="201E1E">
              <a:alpha val="40000"/>
            </a:srgbClr>
          </a:solidFill>
          <a:ln/>
        </p:spPr>
        <p:txBody>
          <a:bodyPr/>
          <a:lstStyle/>
          <a:p>
            <a:endParaRPr lang="en-US"/>
          </a:p>
        </p:txBody>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29750" y="5486995"/>
            <a:ext cx="266700" cy="266700"/>
          </a:xfrm>
          <a:prstGeom prst="rect">
            <a:avLst/>
          </a:prstGeom>
        </p:spPr>
      </p:pic>
      <p:sp>
        <p:nvSpPr>
          <p:cNvPr id="17" name="Text 11"/>
          <p:cNvSpPr/>
          <p:nvPr/>
        </p:nvSpPr>
        <p:spPr>
          <a:xfrm>
            <a:off x="9886950" y="5429845"/>
            <a:ext cx="7573899" cy="1097101"/>
          </a:xfrm>
          <a:prstGeom prst="rect">
            <a:avLst/>
          </a:prstGeom>
          <a:noFill/>
          <a:ln/>
        </p:spPr>
        <p:txBody>
          <a:bodyPr wrap="square" lIns="25400" tIns="25400" rIns="25400" bIns="25400" rtlCol="0" anchor="t">
            <a:normAutofit fontScale="86905" lnSpcReduction="7857"/>
          </a:bodyPr>
          <a:lstStyle/>
          <a:p>
            <a:pPr marL="0" indent="0" algn="l">
              <a:lnSpc>
                <a:spcPct val="117419"/>
              </a:lnSpc>
              <a:buNone/>
            </a:pPr>
            <a:r>
              <a:rPr lang="en-US" sz="1950" dirty="0">
                <a:solidFill>
                  <a:srgbClr val="201E1D"/>
                </a:solidFill>
                <a:latin typeface="Arial" pitchFamily="34" charset="0"/>
                <a:ea typeface="Arial" pitchFamily="34" charset="-122"/>
                <a:cs typeface="Arial" pitchFamily="34" charset="-120"/>
              </a:rPr>
              <a:t>Exported ZIP runs fully offline with no server or internet needed.</a:t>
            </a:r>
            <a:endParaRPr lang="en-US" sz="1950" dirty="0"/>
          </a:p>
        </p:txBody>
      </p:sp>
      <p:sp>
        <p:nvSpPr>
          <p:cNvPr id="18" name="Shape 12"/>
          <p:cNvSpPr/>
          <p:nvPr/>
        </p:nvSpPr>
        <p:spPr>
          <a:xfrm>
            <a:off x="1047750" y="7551837"/>
            <a:ext cx="16192500" cy="19050"/>
          </a:xfrm>
          <a:prstGeom prst="rect">
            <a:avLst/>
          </a:prstGeom>
          <a:solidFill>
            <a:srgbClr val="201E1E">
              <a:alpha val="40000"/>
            </a:srgbClr>
          </a:solidFill>
          <a:ln/>
        </p:spPr>
        <p:txBody>
          <a:bodyPr/>
          <a:lstStyle/>
          <a:p>
            <a:endParaRPr lang="en-US"/>
          </a:p>
        </p:txBody>
      </p:sp>
      <p:sp>
        <p:nvSpPr>
          <p:cNvPr id="19" name="Text 13"/>
          <p:cNvSpPr/>
          <p:nvPr/>
        </p:nvSpPr>
        <p:spPr>
          <a:xfrm>
            <a:off x="1047750" y="7913787"/>
            <a:ext cx="10023366" cy="362843"/>
          </a:xfrm>
          <a:prstGeom prst="rect">
            <a:avLst/>
          </a:prstGeom>
          <a:noFill/>
          <a:ln/>
        </p:spPr>
        <p:txBody>
          <a:bodyPr wrap="square" lIns="25400" tIns="25400" rIns="25400" bIns="25400" rtlCol="0" anchor="t">
            <a:normAutofit/>
          </a:bodyPr>
          <a:lstStyle/>
          <a:p>
            <a:pPr marL="0" indent="0" algn="l">
              <a:lnSpc>
                <a:spcPct val="131154"/>
              </a:lnSpc>
              <a:buNone/>
            </a:pPr>
            <a:r>
              <a:rPr lang="en-US" sz="1650" kern="0" spc="165" dirty="0">
                <a:solidFill>
                  <a:srgbClr val="EC3013"/>
                </a:solidFill>
                <a:latin typeface="Arial" pitchFamily="34" charset="0"/>
                <a:ea typeface="Arial" pitchFamily="34" charset="-122"/>
                <a:cs typeface="Arial" pitchFamily="34" charset="-120"/>
              </a:rPr>
              <a:t>IMPACT</a:t>
            </a:r>
            <a:endParaRPr lang="en-US" sz="1650" dirty="0"/>
          </a:p>
        </p:txBody>
      </p:sp>
      <p:sp>
        <p:nvSpPr>
          <p:cNvPr id="20" name="Text 14"/>
          <p:cNvSpPr/>
          <p:nvPr/>
        </p:nvSpPr>
        <p:spPr>
          <a:xfrm>
            <a:off x="1047750" y="8371880"/>
            <a:ext cx="9385515" cy="1115020"/>
          </a:xfrm>
          <a:prstGeom prst="rect">
            <a:avLst/>
          </a:prstGeom>
          <a:noFill/>
          <a:ln/>
        </p:spPr>
        <p:txBody>
          <a:bodyPr wrap="square" lIns="25400" tIns="25400" rIns="25400" bIns="25400" rtlCol="0" anchor="t">
            <a:normAutofit/>
          </a:bodyPr>
          <a:lstStyle/>
          <a:p>
            <a:pPr marL="0" indent="0" algn="l">
              <a:lnSpc>
                <a:spcPct val="121613"/>
              </a:lnSpc>
              <a:buNone/>
            </a:pPr>
            <a:r>
              <a:rPr lang="en-US" sz="1950" dirty="0">
                <a:solidFill>
                  <a:srgbClr val="201E1D"/>
                </a:solidFill>
                <a:latin typeface="Arial" pitchFamily="34" charset="0"/>
                <a:ea typeface="Arial" pitchFamily="34" charset="-122"/>
                <a:cs typeface="Arial" pitchFamily="34" charset="-120"/>
              </a:rPr>
              <a:t>Gives students, individuals, and small businesses a free, instant, and transparent way to get a professional-looking website without coding skill, design budget, or waiting on a developer.</a:t>
            </a:r>
            <a:endParaRPr lang="en-US" sz="1950" dirty="0"/>
          </a:p>
        </p:txBody>
      </p:sp>
      <p:sp>
        <p:nvSpPr>
          <p:cNvPr id="21" name="Text 15"/>
          <p:cNvSpPr/>
          <p:nvPr/>
        </p:nvSpPr>
        <p:spPr>
          <a:xfrm>
            <a:off x="10080516" y="8533507"/>
            <a:ext cx="7159734" cy="953393"/>
          </a:xfrm>
          <a:prstGeom prst="rect">
            <a:avLst/>
          </a:prstGeom>
          <a:noFill/>
          <a:ln/>
        </p:spPr>
        <p:txBody>
          <a:bodyPr wrap="square" lIns="25400" tIns="25400" rIns="25400" bIns="25400" rtlCol="0" anchor="t">
            <a:normAutofit/>
          </a:bodyPr>
          <a:lstStyle/>
          <a:p>
            <a:pPr marL="0" indent="0" algn="r">
              <a:lnSpc>
                <a:spcPct val="135352"/>
              </a:lnSpc>
              <a:buNone/>
            </a:pPr>
            <a:r>
              <a:rPr lang="en-US" sz="4650" b="1" kern="0" spc="-93" dirty="0">
                <a:solidFill>
                  <a:srgbClr val="201E1D"/>
                </a:solidFill>
                <a:latin typeface="Arial" pitchFamily="34" charset="0"/>
                <a:ea typeface="Arial" pitchFamily="34" charset="-122"/>
                <a:cs typeface="Arial" pitchFamily="34" charset="-120"/>
              </a:rPr>
              <a:t>THANK YOU</a:t>
            </a:r>
            <a:endParaRPr lang="en-US" sz="4650" dirty="0"/>
          </a:p>
        </p:txBody>
      </p:sp>
      <p:sp>
        <p:nvSpPr>
          <p:cNvPr id="22" name="Text 16"/>
          <p:cNvSpPr/>
          <p:nvPr/>
        </p:nvSpPr>
        <p:spPr>
          <a:xfrm>
            <a:off x="1047750" y="9572625"/>
            <a:ext cx="566243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AI WEBSITE BUILDER</a:t>
            </a:r>
            <a:endParaRPr lang="en-US" sz="1500" dirty="0"/>
          </a:p>
        </p:txBody>
      </p:sp>
      <p:sp>
        <p:nvSpPr>
          <p:cNvPr id="23" name="Text 17"/>
          <p:cNvSpPr/>
          <p:nvPr/>
        </p:nvSpPr>
        <p:spPr>
          <a:xfrm>
            <a:off x="17000786" y="9572625"/>
            <a:ext cx="315664" cy="333375"/>
          </a:xfrm>
          <a:prstGeom prst="rect">
            <a:avLst/>
          </a:prstGeom>
          <a:noFill/>
          <a:ln/>
        </p:spPr>
        <p:txBody>
          <a:bodyPr wrap="square" lIns="25400" tIns="25400" rIns="25400" bIns="25400" rtlCol="0" anchor="t">
            <a:normAutofit/>
          </a:bodyPr>
          <a:lstStyle/>
          <a:p>
            <a:pPr marL="0" indent="0" algn="l">
              <a:lnSpc>
                <a:spcPct val="134783"/>
              </a:lnSpc>
              <a:buNone/>
            </a:pPr>
            <a:r>
              <a:rPr lang="en-US" sz="1500" kern="0" spc="90" dirty="0">
                <a:solidFill>
                  <a:srgbClr val="7D7979"/>
                </a:solidFill>
                <a:latin typeface="Arial" pitchFamily="34" charset="0"/>
                <a:ea typeface="Arial" pitchFamily="34" charset="-122"/>
                <a:cs typeface="Arial" pitchFamily="34" charset="-120"/>
              </a:rPr>
              <a:t>12</a:t>
            </a:r>
            <a:endParaRPr lang="en-US" sz="15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47750" y="838200"/>
            <a:ext cx="16192500" cy="450000"/>
          </a:xfrm>
          <a:prstGeom prst="rect">
            <a:avLst/>
          </a:prstGeom>
          <a:noFill/>
        </p:spPr>
        <p:txBody>
          <a:bodyPr wrap="none">
            <a:spAutoFit/>
          </a:bodyPr>
          <a:lstStyle/>
          <a:p>
            <a:r>
              <a:rPr sz="1800" b="1">
                <a:solidFill>
                  <a:srgbClr val="EC3013"/>
                </a:solidFill>
                <a:latin typeface="Arial"/>
              </a:rPr>
              <a:t>HIGH-LEVEL DIAGRAM</a:t>
            </a:r>
          </a:p>
        </p:txBody>
      </p:sp>
      <p:sp>
        <p:nvSpPr>
          <p:cNvPr id="3" name="TextBox 2"/>
          <p:cNvSpPr txBox="1"/>
          <p:nvPr/>
        </p:nvSpPr>
        <p:spPr>
          <a:xfrm>
            <a:off x="1047750" y="9572625"/>
            <a:ext cx="16192500" cy="333375"/>
          </a:xfrm>
          <a:prstGeom prst="rect">
            <a:avLst/>
          </a:prstGeom>
          <a:noFill/>
        </p:spPr>
        <p:txBody>
          <a:bodyPr wrap="none">
            <a:spAutoFit/>
          </a:bodyPr>
          <a:lstStyle/>
          <a:p>
            <a:r>
              <a:rPr sz="1500">
                <a:solidFill>
                  <a:srgbClr val="7D7979"/>
                </a:solidFill>
                <a:latin typeface="Arial"/>
              </a:rPr>
              <a:t>AI WEBSITE BUILDER</a:t>
            </a:r>
          </a:p>
        </p:txBody>
      </p:sp>
      <p:pic>
        <p:nvPicPr>
          <p:cNvPr id="4" name="Picture 3" descr="image.png"/>
          <p:cNvPicPr>
            <a:picLocks noChangeAspect="1"/>
          </p:cNvPicPr>
          <p:nvPr/>
        </p:nvPicPr>
        <p:blipFill>
          <a:blip r:embed="rId2"/>
          <a:stretch>
            <a:fillRect/>
          </a:stretch>
        </p:blipFill>
        <p:spPr>
          <a:xfrm>
            <a:off x="1047750" y="2411606"/>
            <a:ext cx="16192500" cy="619941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47750" y="838200"/>
            <a:ext cx="16192500" cy="450000"/>
          </a:xfrm>
          <a:prstGeom prst="rect">
            <a:avLst/>
          </a:prstGeom>
          <a:noFill/>
        </p:spPr>
        <p:txBody>
          <a:bodyPr wrap="none">
            <a:spAutoFit/>
          </a:bodyPr>
          <a:lstStyle/>
          <a:p>
            <a:r>
              <a:rPr sz="1800" b="1">
                <a:solidFill>
                  <a:srgbClr val="EC3013"/>
                </a:solidFill>
                <a:latin typeface="Arial"/>
              </a:rPr>
              <a:t>ARCHITECTURE DIAGRAM</a:t>
            </a:r>
          </a:p>
        </p:txBody>
      </p:sp>
      <p:sp>
        <p:nvSpPr>
          <p:cNvPr id="3" name="TextBox 2"/>
          <p:cNvSpPr txBox="1"/>
          <p:nvPr/>
        </p:nvSpPr>
        <p:spPr>
          <a:xfrm>
            <a:off x="1047750" y="9572625"/>
            <a:ext cx="16192500" cy="333375"/>
          </a:xfrm>
          <a:prstGeom prst="rect">
            <a:avLst/>
          </a:prstGeom>
          <a:noFill/>
        </p:spPr>
        <p:txBody>
          <a:bodyPr wrap="none">
            <a:spAutoFit/>
          </a:bodyPr>
          <a:lstStyle/>
          <a:p>
            <a:r>
              <a:rPr sz="1500">
                <a:solidFill>
                  <a:srgbClr val="7D7979"/>
                </a:solidFill>
                <a:latin typeface="Arial"/>
              </a:rPr>
              <a:t>AI WEBSITE BUILDER</a:t>
            </a:r>
          </a:p>
        </p:txBody>
      </p:sp>
      <p:pic>
        <p:nvPicPr>
          <p:cNvPr id="4" name="Picture 3" descr="image.png"/>
          <p:cNvPicPr>
            <a:picLocks noChangeAspect="1"/>
          </p:cNvPicPr>
          <p:nvPr/>
        </p:nvPicPr>
        <p:blipFill>
          <a:blip r:embed="rId2"/>
          <a:stretch>
            <a:fillRect/>
          </a:stretch>
        </p:blipFill>
        <p:spPr>
          <a:xfrm>
            <a:off x="1047750" y="4424241"/>
            <a:ext cx="16192500" cy="217414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47750" y="838200"/>
            <a:ext cx="16192500" cy="450000"/>
          </a:xfrm>
          <a:prstGeom prst="rect">
            <a:avLst/>
          </a:prstGeom>
          <a:noFill/>
        </p:spPr>
        <p:txBody>
          <a:bodyPr wrap="none">
            <a:spAutoFit/>
          </a:bodyPr>
          <a:lstStyle/>
          <a:p>
            <a:r>
              <a:rPr sz="1800" b="1">
                <a:solidFill>
                  <a:srgbClr val="EC3013"/>
                </a:solidFill>
                <a:latin typeface="Arial"/>
              </a:rPr>
              <a:t>FLOW CHART</a:t>
            </a:r>
          </a:p>
        </p:txBody>
      </p:sp>
      <p:sp>
        <p:nvSpPr>
          <p:cNvPr id="3" name="TextBox 2"/>
          <p:cNvSpPr txBox="1"/>
          <p:nvPr/>
        </p:nvSpPr>
        <p:spPr>
          <a:xfrm>
            <a:off x="1047750" y="9572625"/>
            <a:ext cx="16192500" cy="333375"/>
          </a:xfrm>
          <a:prstGeom prst="rect">
            <a:avLst/>
          </a:prstGeom>
          <a:noFill/>
        </p:spPr>
        <p:txBody>
          <a:bodyPr wrap="none">
            <a:spAutoFit/>
          </a:bodyPr>
          <a:lstStyle/>
          <a:p>
            <a:r>
              <a:rPr sz="1500">
                <a:solidFill>
                  <a:srgbClr val="7D7979"/>
                </a:solidFill>
                <a:latin typeface="Arial"/>
              </a:rPr>
              <a:t>AI WEBSITE BUILDER</a:t>
            </a:r>
          </a:p>
        </p:txBody>
      </p:sp>
      <p:pic>
        <p:nvPicPr>
          <p:cNvPr id="4" name="Picture 3" descr="image.png"/>
          <p:cNvPicPr>
            <a:picLocks noChangeAspect="1"/>
          </p:cNvPicPr>
          <p:nvPr/>
        </p:nvPicPr>
        <p:blipFill>
          <a:blip r:embed="rId2"/>
          <a:stretch>
            <a:fillRect/>
          </a:stretch>
        </p:blipFill>
        <p:spPr>
          <a:xfrm>
            <a:off x="1047750" y="3594533"/>
            <a:ext cx="16192500" cy="38335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1388</Words>
  <Application>Microsoft Macintosh PowerPoint</Application>
  <PresentationFormat>Custom</PresentationFormat>
  <Paragraphs>183</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vijay sn</cp:lastModifiedBy>
  <cp:revision>2</cp:revision>
  <dcterms:created xsi:type="dcterms:W3CDTF">2026-08-15T15:22:21Z</dcterms:created>
  <dcterms:modified xsi:type="dcterms:W3CDTF">2026-08-17T15:54:10Z</dcterms:modified>
</cp:coreProperties>
</file>